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58" r:id="rId4"/>
    <p:sldId id="259" r:id="rId5"/>
    <p:sldId id="262" r:id="rId6"/>
    <p:sldId id="263" r:id="rId7"/>
    <p:sldId id="264" r:id="rId8"/>
    <p:sldId id="261" r:id="rId9"/>
    <p:sldId id="284" r:id="rId10"/>
    <p:sldId id="266" r:id="rId11"/>
    <p:sldId id="267" r:id="rId12"/>
    <p:sldId id="269" r:id="rId13"/>
    <p:sldId id="270" r:id="rId14"/>
    <p:sldId id="278" r:id="rId15"/>
    <p:sldId id="285" r:id="rId16"/>
    <p:sldId id="273" r:id="rId17"/>
    <p:sldId id="274" r:id="rId18"/>
    <p:sldId id="275" r:id="rId19"/>
    <p:sldId id="283" r:id="rId20"/>
    <p:sldId id="28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4990AE-E86F-4CC7-929C-0ACCB18AEEDD}" v="4236" dt="2026-01-20T20:08:00.3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C709A4DA9195CAD/Call%20Center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C709A4DA9195CAD/Call%20Center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C709A4DA9195CAD/Call%20Center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C709A4DA9195CAD/Call%20Center%20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C709A4DA9195CAD/Call%20Center%20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C709A4DA9195CAD/Call%20Center%20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C709A4DA9195CAD/Prophet_Forecast_Result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CC709A4DA9195CAD/Prophet_Forecast_Result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[Call Center Data.xlsx]Weekly Patern!PivotTable2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Weekly Call Pattern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'Weekly Patern'!$B$3</c:f>
              <c:strCache>
                <c:ptCount val="1"/>
                <c:pt idx="0">
                  <c:v>  Incoming Calls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'Weekly Patern'!$A$4:$A$11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'Weekly Patern'!$B$4:$B$11</c:f>
              <c:numCache>
                <c:formatCode>General</c:formatCode>
                <c:ptCount val="7"/>
                <c:pt idx="0">
                  <c:v>41245</c:v>
                </c:pt>
                <c:pt idx="1">
                  <c:v>40069</c:v>
                </c:pt>
                <c:pt idx="2">
                  <c:v>40357</c:v>
                </c:pt>
                <c:pt idx="3">
                  <c:v>40713</c:v>
                </c:pt>
                <c:pt idx="4">
                  <c:v>40935</c:v>
                </c:pt>
                <c:pt idx="5">
                  <c:v>36969</c:v>
                </c:pt>
                <c:pt idx="6">
                  <c:v>8085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2E-477F-A0F9-59B3C2A8EA81}"/>
            </c:ext>
          </c:extLst>
        </c:ser>
        <c:ser>
          <c:idx val="1"/>
          <c:order val="1"/>
          <c:tx>
            <c:strRef>
              <c:f>'Weekly Patern'!$C$3</c:f>
              <c:strCache>
                <c:ptCount val="1"/>
                <c:pt idx="0">
                  <c:v> Answered Calls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'Weekly Patern'!$A$4:$A$11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'Weekly Patern'!$C$4:$C$11</c:f>
              <c:numCache>
                <c:formatCode>General</c:formatCode>
                <c:ptCount val="7"/>
                <c:pt idx="0">
                  <c:v>37108</c:v>
                </c:pt>
                <c:pt idx="1">
                  <c:v>36321</c:v>
                </c:pt>
                <c:pt idx="2">
                  <c:v>35873</c:v>
                </c:pt>
                <c:pt idx="3">
                  <c:v>35668</c:v>
                </c:pt>
                <c:pt idx="4">
                  <c:v>35866</c:v>
                </c:pt>
                <c:pt idx="5">
                  <c:v>33044</c:v>
                </c:pt>
                <c:pt idx="6">
                  <c:v>7354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2E-477F-A0F9-59B3C2A8EA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037780999"/>
        <c:axId val="2037783047"/>
      </c:barChart>
      <c:catAx>
        <c:axId val="20377809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Day Of Week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7783047"/>
        <c:crosses val="autoZero"/>
        <c:auto val="1"/>
        <c:lblAlgn val="ctr"/>
        <c:lblOffset val="100"/>
        <c:noMultiLvlLbl val="0"/>
      </c:catAx>
      <c:valAx>
        <c:axId val="2037783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Aggregated Call 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7780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000000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[Call Center Data.xlsx]Monthly Pattern!PivotTable1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Montly Incoming Call Pattern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'Monthly Pattern'!$B$3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'Monthly Pattern'!$A$4:$A$35</c:f>
              <c:strCache>
                <c:ptCount val="31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</c:strCache>
            </c:strRef>
          </c:cat>
          <c:val>
            <c:numRef>
              <c:f>'Monthly Pattern'!$B$4:$B$35</c:f>
              <c:numCache>
                <c:formatCode>General</c:formatCode>
                <c:ptCount val="31"/>
                <c:pt idx="0">
                  <c:v>1765</c:v>
                </c:pt>
                <c:pt idx="1">
                  <c:v>2302</c:v>
                </c:pt>
                <c:pt idx="2">
                  <c:v>2415</c:v>
                </c:pt>
                <c:pt idx="3">
                  <c:v>2632</c:v>
                </c:pt>
                <c:pt idx="4">
                  <c:v>2016</c:v>
                </c:pt>
                <c:pt idx="5">
                  <c:v>2053</c:v>
                </c:pt>
                <c:pt idx="6">
                  <c:v>2323</c:v>
                </c:pt>
                <c:pt idx="7">
                  <c:v>2263</c:v>
                </c:pt>
                <c:pt idx="8">
                  <c:v>2223</c:v>
                </c:pt>
                <c:pt idx="9">
                  <c:v>2813</c:v>
                </c:pt>
                <c:pt idx="10">
                  <c:v>2191</c:v>
                </c:pt>
                <c:pt idx="11">
                  <c:v>1783</c:v>
                </c:pt>
                <c:pt idx="12">
                  <c:v>1942</c:v>
                </c:pt>
                <c:pt idx="13">
                  <c:v>2193</c:v>
                </c:pt>
                <c:pt idx="14">
                  <c:v>1957</c:v>
                </c:pt>
                <c:pt idx="15">
                  <c:v>1891</c:v>
                </c:pt>
                <c:pt idx="16">
                  <c:v>2819</c:v>
                </c:pt>
                <c:pt idx="17">
                  <c:v>2161</c:v>
                </c:pt>
                <c:pt idx="18">
                  <c:v>1597</c:v>
                </c:pt>
                <c:pt idx="19">
                  <c:v>1736</c:v>
                </c:pt>
                <c:pt idx="20">
                  <c:v>1772</c:v>
                </c:pt>
                <c:pt idx="21">
                  <c:v>1881</c:v>
                </c:pt>
                <c:pt idx="22">
                  <c:v>1825</c:v>
                </c:pt>
                <c:pt idx="23">
                  <c:v>2261</c:v>
                </c:pt>
                <c:pt idx="24">
                  <c:v>1981</c:v>
                </c:pt>
                <c:pt idx="25">
                  <c:v>1712</c:v>
                </c:pt>
                <c:pt idx="26">
                  <c:v>2061</c:v>
                </c:pt>
                <c:pt idx="27">
                  <c:v>2695</c:v>
                </c:pt>
                <c:pt idx="28">
                  <c:v>1693</c:v>
                </c:pt>
                <c:pt idx="29">
                  <c:v>1906</c:v>
                </c:pt>
                <c:pt idx="30">
                  <c:v>1189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0A-40E5-9640-8A69C99698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80519175"/>
        <c:axId val="280552967"/>
      </c:barChart>
      <c:catAx>
        <c:axId val="2805191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Day of 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0552967"/>
        <c:crosses val="autoZero"/>
        <c:auto val="1"/>
        <c:lblAlgn val="ctr"/>
        <c:lblOffset val="100"/>
        <c:noMultiLvlLbl val="0"/>
      </c:catAx>
      <c:valAx>
        <c:axId val="280552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Call 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05191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000000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[Call Center Data.xlsx]Yearly Pattern!PivotTable1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Yearly Incoming Call Volume Pattern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'Yearly Pattern'!$B$3:$B$4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'Yearly Pattern'!$A$5:$A$17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'Yearly Pattern'!$B$5:$B$17</c:f>
              <c:numCache>
                <c:formatCode>General</c:formatCode>
                <c:ptCount val="12"/>
                <c:pt idx="0">
                  <c:v>5805</c:v>
                </c:pt>
                <c:pt idx="1">
                  <c:v>5544</c:v>
                </c:pt>
                <c:pt idx="2">
                  <c:v>4306</c:v>
                </c:pt>
                <c:pt idx="3">
                  <c:v>4888</c:v>
                </c:pt>
                <c:pt idx="4">
                  <c:v>5241</c:v>
                </c:pt>
                <c:pt idx="5">
                  <c:v>3752</c:v>
                </c:pt>
                <c:pt idx="6">
                  <c:v>5723</c:v>
                </c:pt>
                <c:pt idx="7">
                  <c:v>6040</c:v>
                </c:pt>
                <c:pt idx="8">
                  <c:v>4812</c:v>
                </c:pt>
                <c:pt idx="9">
                  <c:v>6536</c:v>
                </c:pt>
                <c:pt idx="10">
                  <c:v>4754</c:v>
                </c:pt>
                <c:pt idx="11">
                  <c:v>6650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6-4021-B050-54982E1329D4}"/>
            </c:ext>
          </c:extLst>
        </c:ser>
        <c:ser>
          <c:idx val="1"/>
          <c:order val="1"/>
          <c:tx>
            <c:strRef>
              <c:f>'Yearly Pattern'!$C$3:$C$4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'Yearly Pattern'!$A$5:$A$17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'Yearly Pattern'!$C$5:$C$17</c:f>
              <c:numCache>
                <c:formatCode>General</c:formatCode>
                <c:ptCount val="12"/>
                <c:pt idx="0">
                  <c:v>4779</c:v>
                </c:pt>
                <c:pt idx="1">
                  <c:v>3579</c:v>
                </c:pt>
                <c:pt idx="2">
                  <c:v>3278</c:v>
                </c:pt>
                <c:pt idx="3">
                  <c:v>3275</c:v>
                </c:pt>
                <c:pt idx="4">
                  <c:v>3350</c:v>
                </c:pt>
                <c:pt idx="5">
                  <c:v>4461</c:v>
                </c:pt>
                <c:pt idx="6">
                  <c:v>4394</c:v>
                </c:pt>
                <c:pt idx="7">
                  <c:v>3646</c:v>
                </c:pt>
                <c:pt idx="8">
                  <c:v>3591</c:v>
                </c:pt>
                <c:pt idx="9">
                  <c:v>4124</c:v>
                </c:pt>
                <c:pt idx="10">
                  <c:v>6605</c:v>
                </c:pt>
                <c:pt idx="11">
                  <c:v>6076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CC6-4021-B050-54982E1329D4}"/>
            </c:ext>
          </c:extLst>
        </c:ser>
        <c:ser>
          <c:idx val="2"/>
          <c:order val="2"/>
          <c:tx>
            <c:strRef>
              <c:f>'Yearly Pattern'!$D$3:$D$4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'Yearly Pattern'!$A$5:$A$17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'Yearly Pattern'!$D$5:$D$17</c:f>
              <c:numCache>
                <c:formatCode>General</c:formatCode>
                <c:ptCount val="12"/>
                <c:pt idx="0">
                  <c:v>4965</c:v>
                </c:pt>
                <c:pt idx="1">
                  <c:v>8953</c:v>
                </c:pt>
                <c:pt idx="2">
                  <c:v>10622</c:v>
                </c:pt>
                <c:pt idx="3">
                  <c:v>18641</c:v>
                </c:pt>
                <c:pt idx="4">
                  <c:v>9333</c:v>
                </c:pt>
                <c:pt idx="5">
                  <c:v>10179</c:v>
                </c:pt>
                <c:pt idx="6">
                  <c:v>9094</c:v>
                </c:pt>
                <c:pt idx="7">
                  <c:v>6009</c:v>
                </c:pt>
                <c:pt idx="8">
                  <c:v>5013</c:v>
                </c:pt>
                <c:pt idx="9">
                  <c:v>5061</c:v>
                </c:pt>
                <c:pt idx="10">
                  <c:v>4681</c:v>
                </c:pt>
                <c:pt idx="11">
                  <c:v>8051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CC6-4021-B050-54982E1329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0653063"/>
        <c:axId val="900655111"/>
      </c:barChart>
      <c:catAx>
        <c:axId val="9006530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 of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0655111"/>
        <c:crosses val="autoZero"/>
        <c:auto val="1"/>
        <c:lblAlgn val="ctr"/>
        <c:lblOffset val="100"/>
        <c:noMultiLvlLbl val="0"/>
      </c:catAx>
      <c:valAx>
        <c:axId val="900655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Call 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0653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000000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[Call Center Data.xlsx]April 2022 Demand!PivotTable3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April Demand Pattern (Focus on 2020)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3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4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5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'April 2022 Demand'!$C$3:$C$4</c:f>
              <c:strCache>
                <c:ptCount val="1"/>
                <c:pt idx="0">
                  <c:v>2020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'April 2022 Demand'!$A$5:$B$36</c:f>
              <c:multiLvlStrCache>
                <c:ptCount val="3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</c:lvl>
                <c:lvl>
                  <c:pt idx="0">
                    <c:v>4</c:v>
                  </c:pt>
                </c:lvl>
              </c:multiLvlStrCache>
            </c:multiLvlStrRef>
          </c:cat>
          <c:val>
            <c:numRef>
              <c:f>'April 2022 Demand'!$C$5:$C$36</c:f>
              <c:numCache>
                <c:formatCode>General</c:formatCode>
                <c:ptCount val="30"/>
                <c:pt idx="0">
                  <c:v>18</c:v>
                </c:pt>
                <c:pt idx="1">
                  <c:v>206</c:v>
                </c:pt>
                <c:pt idx="2">
                  <c:v>194</c:v>
                </c:pt>
                <c:pt idx="3">
                  <c:v>206</c:v>
                </c:pt>
                <c:pt idx="4">
                  <c:v>53</c:v>
                </c:pt>
                <c:pt idx="5">
                  <c:v>147</c:v>
                </c:pt>
                <c:pt idx="6">
                  <c:v>201</c:v>
                </c:pt>
                <c:pt idx="7">
                  <c:v>202</c:v>
                </c:pt>
                <c:pt idx="8">
                  <c:v>226</c:v>
                </c:pt>
                <c:pt idx="9">
                  <c:v>167</c:v>
                </c:pt>
                <c:pt idx="10">
                  <c:v>164</c:v>
                </c:pt>
                <c:pt idx="11">
                  <c:v>42</c:v>
                </c:pt>
                <c:pt idx="12">
                  <c:v>79</c:v>
                </c:pt>
                <c:pt idx="13">
                  <c:v>165</c:v>
                </c:pt>
                <c:pt idx="14">
                  <c:v>180</c:v>
                </c:pt>
                <c:pt idx="15">
                  <c:v>179</c:v>
                </c:pt>
                <c:pt idx="16">
                  <c:v>217</c:v>
                </c:pt>
                <c:pt idx="17">
                  <c:v>171</c:v>
                </c:pt>
                <c:pt idx="18">
                  <c:v>37</c:v>
                </c:pt>
                <c:pt idx="19">
                  <c:v>215</c:v>
                </c:pt>
                <c:pt idx="20">
                  <c:v>218</c:v>
                </c:pt>
                <c:pt idx="21">
                  <c:v>205</c:v>
                </c:pt>
                <c:pt idx="22">
                  <c:v>195</c:v>
                </c:pt>
                <c:pt idx="23">
                  <c:v>181</c:v>
                </c:pt>
                <c:pt idx="24">
                  <c:v>212</c:v>
                </c:pt>
                <c:pt idx="25">
                  <c:v>33</c:v>
                </c:pt>
                <c:pt idx="26">
                  <c:v>298</c:v>
                </c:pt>
                <c:pt idx="27">
                  <c:v>158</c:v>
                </c:pt>
                <c:pt idx="28">
                  <c:v>156</c:v>
                </c:pt>
                <c:pt idx="29">
                  <c:v>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5C-46A9-829E-9A97F90F1CA6}"/>
            </c:ext>
          </c:extLst>
        </c:ser>
        <c:ser>
          <c:idx val="1"/>
          <c:order val="1"/>
          <c:tx>
            <c:strRef>
              <c:f>'April 2022 Demand'!$D$3:$D$4</c:f>
              <c:strCache>
                <c:ptCount val="1"/>
                <c:pt idx="0">
                  <c:v>2021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multiLvlStrRef>
              <c:f>'April 2022 Demand'!$A$5:$B$36</c:f>
              <c:multiLvlStrCache>
                <c:ptCount val="3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</c:lvl>
                <c:lvl>
                  <c:pt idx="0">
                    <c:v>4</c:v>
                  </c:pt>
                </c:lvl>
              </c:multiLvlStrCache>
            </c:multiLvlStrRef>
          </c:cat>
          <c:val>
            <c:numRef>
              <c:f>'April 2022 Demand'!$D$5:$D$36</c:f>
              <c:numCache>
                <c:formatCode>General</c:formatCode>
                <c:ptCount val="30"/>
                <c:pt idx="0">
                  <c:v>14</c:v>
                </c:pt>
                <c:pt idx="1">
                  <c:v>43</c:v>
                </c:pt>
                <c:pt idx="2">
                  <c:v>74</c:v>
                </c:pt>
                <c:pt idx="3">
                  <c:v>33</c:v>
                </c:pt>
                <c:pt idx="4">
                  <c:v>124</c:v>
                </c:pt>
                <c:pt idx="5">
                  <c:v>130</c:v>
                </c:pt>
                <c:pt idx="6">
                  <c:v>139</c:v>
                </c:pt>
                <c:pt idx="7">
                  <c:v>138</c:v>
                </c:pt>
                <c:pt idx="8">
                  <c:v>125</c:v>
                </c:pt>
                <c:pt idx="9">
                  <c:v>98</c:v>
                </c:pt>
                <c:pt idx="10">
                  <c:v>12</c:v>
                </c:pt>
                <c:pt idx="11">
                  <c:v>119</c:v>
                </c:pt>
                <c:pt idx="12">
                  <c:v>100</c:v>
                </c:pt>
                <c:pt idx="13">
                  <c:v>146</c:v>
                </c:pt>
                <c:pt idx="14">
                  <c:v>131</c:v>
                </c:pt>
                <c:pt idx="15">
                  <c:v>107</c:v>
                </c:pt>
                <c:pt idx="16">
                  <c:v>112</c:v>
                </c:pt>
                <c:pt idx="17">
                  <c:v>21</c:v>
                </c:pt>
                <c:pt idx="18">
                  <c:v>125</c:v>
                </c:pt>
                <c:pt idx="19">
                  <c:v>35</c:v>
                </c:pt>
                <c:pt idx="20">
                  <c:v>121</c:v>
                </c:pt>
                <c:pt idx="21">
                  <c:v>135</c:v>
                </c:pt>
                <c:pt idx="22">
                  <c:v>117</c:v>
                </c:pt>
                <c:pt idx="23">
                  <c:v>114</c:v>
                </c:pt>
                <c:pt idx="24">
                  <c:v>50</c:v>
                </c:pt>
                <c:pt idx="25">
                  <c:v>207</c:v>
                </c:pt>
                <c:pt idx="26">
                  <c:v>189</c:v>
                </c:pt>
                <c:pt idx="27">
                  <c:v>162</c:v>
                </c:pt>
                <c:pt idx="28">
                  <c:v>177</c:v>
                </c:pt>
                <c:pt idx="29">
                  <c:v>177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5C-46A9-829E-9A97F90F1CA6}"/>
            </c:ext>
          </c:extLst>
        </c:ser>
        <c:ser>
          <c:idx val="2"/>
          <c:order val="2"/>
          <c:tx>
            <c:strRef>
              <c:f>'April 2022 Demand'!$E$3:$E$4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multiLvlStrRef>
              <c:f>'April 2022 Demand'!$A$5:$B$36</c:f>
              <c:multiLvlStrCache>
                <c:ptCount val="30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</c:lvl>
                <c:lvl>
                  <c:pt idx="0">
                    <c:v>4</c:v>
                  </c:pt>
                </c:lvl>
              </c:multiLvlStrCache>
            </c:multiLvlStrRef>
          </c:cat>
          <c:val>
            <c:numRef>
              <c:f>'April 2022 Demand'!$E$5:$E$36</c:f>
              <c:numCache>
                <c:formatCode>General</c:formatCode>
                <c:ptCount val="30"/>
                <c:pt idx="0">
                  <c:v>24</c:v>
                </c:pt>
                <c:pt idx="1">
                  <c:v>106</c:v>
                </c:pt>
                <c:pt idx="2">
                  <c:v>52</c:v>
                </c:pt>
                <c:pt idx="3">
                  <c:v>223</c:v>
                </c:pt>
                <c:pt idx="4">
                  <c:v>274</c:v>
                </c:pt>
                <c:pt idx="5">
                  <c:v>280</c:v>
                </c:pt>
                <c:pt idx="6">
                  <c:v>534</c:v>
                </c:pt>
                <c:pt idx="7">
                  <c:v>315</c:v>
                </c:pt>
                <c:pt idx="8">
                  <c:v>122</c:v>
                </c:pt>
                <c:pt idx="9">
                  <c:v>63</c:v>
                </c:pt>
                <c:pt idx="10">
                  <c:v>402</c:v>
                </c:pt>
                <c:pt idx="11">
                  <c:v>413</c:v>
                </c:pt>
                <c:pt idx="12">
                  <c:v>389</c:v>
                </c:pt>
                <c:pt idx="13">
                  <c:v>495</c:v>
                </c:pt>
                <c:pt idx="14">
                  <c:v>712</c:v>
                </c:pt>
                <c:pt idx="15">
                  <c:v>1057</c:v>
                </c:pt>
                <c:pt idx="16">
                  <c:v>620</c:v>
                </c:pt>
                <c:pt idx="17">
                  <c:v>1575</c:v>
                </c:pt>
                <c:pt idx="18">
                  <c:v>1349</c:v>
                </c:pt>
                <c:pt idx="19">
                  <c:v>999</c:v>
                </c:pt>
                <c:pt idx="20">
                  <c:v>968</c:v>
                </c:pt>
                <c:pt idx="21">
                  <c:v>1066</c:v>
                </c:pt>
                <c:pt idx="22">
                  <c:v>788</c:v>
                </c:pt>
                <c:pt idx="23">
                  <c:v>252</c:v>
                </c:pt>
                <c:pt idx="24">
                  <c:v>842</c:v>
                </c:pt>
                <c:pt idx="25">
                  <c:v>847</c:v>
                </c:pt>
                <c:pt idx="26">
                  <c:v>800</c:v>
                </c:pt>
                <c:pt idx="27">
                  <c:v>1100</c:v>
                </c:pt>
                <c:pt idx="28">
                  <c:v>1242</c:v>
                </c:pt>
                <c:pt idx="29">
                  <c:v>732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95C-46A9-829E-9A97F90F1C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83463943"/>
        <c:axId val="190285320"/>
      </c:barChart>
      <c:catAx>
        <c:axId val="138346394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Day of Month for April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285320"/>
        <c:crosses val="autoZero"/>
        <c:auto val="1"/>
        <c:lblAlgn val="ctr"/>
        <c:lblOffset val="100"/>
        <c:noMultiLvlLbl val="0"/>
      </c:catAx>
      <c:valAx>
        <c:axId val="190285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Call Volume (Number of Daily Calls)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834639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000000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[Call Center Data.xlsx]Total Demand!PivotTable2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Incoming Calls Per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'Total Demand'!$C$3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multiLvlStrRef>
              <c:f>'Total Demand'!$A$4:$B$50</c:f>
              <c:multiLvlStrCache>
                <c:ptCount val="4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</c:v>
                  </c:pt>
                  <c:pt idx="13">
                    <c:v>2</c:v>
                  </c:pt>
                  <c:pt idx="14">
                    <c:v>3</c:v>
                  </c:pt>
                  <c:pt idx="15">
                    <c:v>4</c:v>
                  </c:pt>
                  <c:pt idx="16">
                    <c:v>5</c:v>
                  </c:pt>
                  <c:pt idx="17">
                    <c:v>6</c:v>
                  </c:pt>
                  <c:pt idx="18">
                    <c:v>7</c:v>
                  </c:pt>
                  <c:pt idx="19">
                    <c:v>8</c:v>
                  </c:pt>
                  <c:pt idx="20">
                    <c:v>9</c:v>
                  </c:pt>
                  <c:pt idx="21">
                    <c:v>10</c:v>
                  </c:pt>
                  <c:pt idx="22">
                    <c:v>11</c:v>
                  </c:pt>
                  <c:pt idx="23">
                    <c:v>12</c:v>
                  </c:pt>
                  <c:pt idx="24">
                    <c:v>1</c:v>
                  </c:pt>
                  <c:pt idx="25">
                    <c:v>2</c:v>
                  </c:pt>
                  <c:pt idx="26">
                    <c:v>3</c:v>
                  </c:pt>
                  <c:pt idx="27">
                    <c:v>4</c:v>
                  </c:pt>
                  <c:pt idx="28">
                    <c:v>5</c:v>
                  </c:pt>
                  <c:pt idx="29">
                    <c:v>6</c:v>
                  </c:pt>
                  <c:pt idx="30">
                    <c:v>7</c:v>
                  </c:pt>
                  <c:pt idx="31">
                    <c:v>8</c:v>
                  </c:pt>
                  <c:pt idx="32">
                    <c:v>9</c:v>
                  </c:pt>
                  <c:pt idx="33">
                    <c:v>10</c:v>
                  </c:pt>
                  <c:pt idx="34">
                    <c:v>11</c:v>
                  </c:pt>
                  <c:pt idx="35">
                    <c:v>12</c:v>
                  </c:pt>
                  <c:pt idx="36">
                    <c:v>1</c:v>
                  </c:pt>
                  <c:pt idx="37">
                    <c:v>2</c:v>
                  </c:pt>
                  <c:pt idx="38">
                    <c:v>3</c:v>
                  </c:pt>
                  <c:pt idx="39">
                    <c:v>4</c:v>
                  </c:pt>
                  <c:pt idx="40">
                    <c:v>5</c:v>
                  </c:pt>
                  <c:pt idx="41">
                    <c:v>6</c:v>
                  </c:pt>
                </c:lvl>
                <c:lvl>
                  <c:pt idx="0">
                    <c:v>2020</c:v>
                  </c:pt>
                  <c:pt idx="12">
                    <c:v>2021</c:v>
                  </c:pt>
                  <c:pt idx="24">
                    <c:v>2022</c:v>
                  </c:pt>
                  <c:pt idx="36">
                    <c:v>2023</c:v>
                  </c:pt>
                </c:lvl>
              </c:multiLvlStrCache>
            </c:multiLvlStrRef>
          </c:cat>
          <c:val>
            <c:numRef>
              <c:f>'Total Demand'!$C$4:$C$50</c:f>
              <c:numCache>
                <c:formatCode>General</c:formatCode>
                <c:ptCount val="42"/>
                <c:pt idx="0">
                  <c:v>5805</c:v>
                </c:pt>
                <c:pt idx="1">
                  <c:v>5544</c:v>
                </c:pt>
                <c:pt idx="2">
                  <c:v>4306</c:v>
                </c:pt>
                <c:pt idx="3">
                  <c:v>4888</c:v>
                </c:pt>
                <c:pt idx="4">
                  <c:v>5241</c:v>
                </c:pt>
                <c:pt idx="5">
                  <c:v>3752</c:v>
                </c:pt>
                <c:pt idx="6">
                  <c:v>5723</c:v>
                </c:pt>
                <c:pt idx="7">
                  <c:v>6040</c:v>
                </c:pt>
                <c:pt idx="8">
                  <c:v>4812</c:v>
                </c:pt>
                <c:pt idx="9">
                  <c:v>6536</c:v>
                </c:pt>
                <c:pt idx="10">
                  <c:v>4754</c:v>
                </c:pt>
                <c:pt idx="11">
                  <c:v>6650</c:v>
                </c:pt>
                <c:pt idx="12">
                  <c:v>4779</c:v>
                </c:pt>
                <c:pt idx="13">
                  <c:v>3579</c:v>
                </c:pt>
                <c:pt idx="14">
                  <c:v>3278</c:v>
                </c:pt>
                <c:pt idx="15">
                  <c:v>3275</c:v>
                </c:pt>
                <c:pt idx="16">
                  <c:v>3350</c:v>
                </c:pt>
                <c:pt idx="17">
                  <c:v>4461</c:v>
                </c:pt>
                <c:pt idx="18">
                  <c:v>4394</c:v>
                </c:pt>
                <c:pt idx="19">
                  <c:v>3646</c:v>
                </c:pt>
                <c:pt idx="20">
                  <c:v>3591</c:v>
                </c:pt>
                <c:pt idx="21">
                  <c:v>4124</c:v>
                </c:pt>
                <c:pt idx="22">
                  <c:v>6605</c:v>
                </c:pt>
                <c:pt idx="23">
                  <c:v>6076</c:v>
                </c:pt>
                <c:pt idx="24">
                  <c:v>4965</c:v>
                </c:pt>
                <c:pt idx="25">
                  <c:v>8953</c:v>
                </c:pt>
                <c:pt idx="26">
                  <c:v>10622</c:v>
                </c:pt>
                <c:pt idx="27">
                  <c:v>18641</c:v>
                </c:pt>
                <c:pt idx="28">
                  <c:v>9333</c:v>
                </c:pt>
                <c:pt idx="29">
                  <c:v>10179</c:v>
                </c:pt>
                <c:pt idx="30">
                  <c:v>9094</c:v>
                </c:pt>
                <c:pt idx="31">
                  <c:v>6009</c:v>
                </c:pt>
                <c:pt idx="32">
                  <c:v>5013</c:v>
                </c:pt>
                <c:pt idx="33">
                  <c:v>5061</c:v>
                </c:pt>
                <c:pt idx="34">
                  <c:v>4681</c:v>
                </c:pt>
                <c:pt idx="35">
                  <c:v>8051</c:v>
                </c:pt>
                <c:pt idx="36">
                  <c:v>7897</c:v>
                </c:pt>
                <c:pt idx="37">
                  <c:v>7476</c:v>
                </c:pt>
                <c:pt idx="38">
                  <c:v>4548</c:v>
                </c:pt>
                <c:pt idx="39">
                  <c:v>6548</c:v>
                </c:pt>
                <c:pt idx="40">
                  <c:v>5492</c:v>
                </c:pt>
                <c:pt idx="41">
                  <c:v>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2-4C99-8C5D-6839B49FF8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02829063"/>
        <c:axId val="902831111"/>
      </c:barChart>
      <c:catAx>
        <c:axId val="9028290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Month and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2831111"/>
        <c:crosses val="autoZero"/>
        <c:auto val="1"/>
        <c:lblAlgn val="ctr"/>
        <c:lblOffset val="100"/>
        <c:noMultiLvlLbl val="0"/>
      </c:catAx>
      <c:valAx>
        <c:axId val="902831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Incoming Calls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2829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000000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[Call Center Data.xlsx]FTE!PivotTable1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FTE Required at the Call Center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3"/>
            </a:solidFill>
            <a:ln w="9525">
              <a:solidFill>
                <a:schemeClr val="accent3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FTE!$C$3</c:f>
              <c:strCache>
                <c:ptCount val="1"/>
                <c:pt idx="0">
                  <c:v>  Actual Heacount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multiLvlStrRef>
              <c:f>FTE!$A$4:$B$50</c:f>
              <c:multiLvlStrCache>
                <c:ptCount val="4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</c:v>
                  </c:pt>
                  <c:pt idx="13">
                    <c:v>2</c:v>
                  </c:pt>
                  <c:pt idx="14">
                    <c:v>3</c:v>
                  </c:pt>
                  <c:pt idx="15">
                    <c:v>4</c:v>
                  </c:pt>
                  <c:pt idx="16">
                    <c:v>5</c:v>
                  </c:pt>
                  <c:pt idx="17">
                    <c:v>6</c:v>
                  </c:pt>
                  <c:pt idx="18">
                    <c:v>7</c:v>
                  </c:pt>
                  <c:pt idx="19">
                    <c:v>8</c:v>
                  </c:pt>
                  <c:pt idx="20">
                    <c:v>9</c:v>
                  </c:pt>
                  <c:pt idx="21">
                    <c:v>10</c:v>
                  </c:pt>
                  <c:pt idx="22">
                    <c:v>11</c:v>
                  </c:pt>
                  <c:pt idx="23">
                    <c:v>12</c:v>
                  </c:pt>
                  <c:pt idx="24">
                    <c:v>1</c:v>
                  </c:pt>
                  <c:pt idx="25">
                    <c:v>2</c:v>
                  </c:pt>
                  <c:pt idx="26">
                    <c:v>3</c:v>
                  </c:pt>
                  <c:pt idx="27">
                    <c:v>4</c:v>
                  </c:pt>
                  <c:pt idx="28">
                    <c:v>5</c:v>
                  </c:pt>
                  <c:pt idx="29">
                    <c:v>6</c:v>
                  </c:pt>
                  <c:pt idx="30">
                    <c:v>7</c:v>
                  </c:pt>
                  <c:pt idx="31">
                    <c:v>8</c:v>
                  </c:pt>
                  <c:pt idx="32">
                    <c:v>9</c:v>
                  </c:pt>
                  <c:pt idx="33">
                    <c:v>10</c:v>
                  </c:pt>
                  <c:pt idx="34">
                    <c:v>11</c:v>
                  </c:pt>
                  <c:pt idx="35">
                    <c:v>12</c:v>
                  </c:pt>
                  <c:pt idx="36">
                    <c:v>1</c:v>
                  </c:pt>
                  <c:pt idx="37">
                    <c:v>2</c:v>
                  </c:pt>
                  <c:pt idx="38">
                    <c:v>3</c:v>
                  </c:pt>
                  <c:pt idx="39">
                    <c:v>4</c:v>
                  </c:pt>
                  <c:pt idx="40">
                    <c:v>5</c:v>
                  </c:pt>
                  <c:pt idx="41">
                    <c:v>6</c:v>
                  </c:pt>
                </c:lvl>
                <c:lvl>
                  <c:pt idx="0">
                    <c:v>2020</c:v>
                  </c:pt>
                  <c:pt idx="12">
                    <c:v>2021</c:v>
                  </c:pt>
                  <c:pt idx="24">
                    <c:v>2022</c:v>
                  </c:pt>
                  <c:pt idx="36">
                    <c:v>2023</c:v>
                  </c:pt>
                </c:lvl>
              </c:multiLvlStrCache>
            </c:multiLvlStrRef>
          </c:cat>
          <c:val>
            <c:numRef>
              <c:f>FTE!$C$4:$C$50</c:f>
              <c:numCache>
                <c:formatCode>0.00</c:formatCode>
                <c:ptCount val="42"/>
                <c:pt idx="0">
                  <c:v>34.589453124999999</c:v>
                </c:pt>
                <c:pt idx="1">
                  <c:v>36.2404513888889</c:v>
                </c:pt>
                <c:pt idx="2">
                  <c:v>33.123697916666671</c:v>
                </c:pt>
                <c:pt idx="3">
                  <c:v>32.136024305555551</c:v>
                </c:pt>
                <c:pt idx="4">
                  <c:v>35.728776041666663</c:v>
                </c:pt>
                <c:pt idx="5">
                  <c:v>30.831249999999997</c:v>
                </c:pt>
                <c:pt idx="6">
                  <c:v>35.072873263888887</c:v>
                </c:pt>
                <c:pt idx="7">
                  <c:v>38.653342013888889</c:v>
                </c:pt>
                <c:pt idx="8">
                  <c:v>35.27065972222222</c:v>
                </c:pt>
                <c:pt idx="9">
                  <c:v>38.936328124999996</c:v>
                </c:pt>
                <c:pt idx="10">
                  <c:v>32.858637152777789</c:v>
                </c:pt>
                <c:pt idx="11">
                  <c:v>39.703862847222233</c:v>
                </c:pt>
                <c:pt idx="12">
                  <c:v>33.137673611111111</c:v>
                </c:pt>
                <c:pt idx="13">
                  <c:v>28.325911458333334</c:v>
                </c:pt>
                <c:pt idx="14">
                  <c:v>31.961241319444447</c:v>
                </c:pt>
                <c:pt idx="15">
                  <c:v>30.804991319444447</c:v>
                </c:pt>
                <c:pt idx="16">
                  <c:v>31.198307291666666</c:v>
                </c:pt>
                <c:pt idx="17">
                  <c:v>34.78181423611111</c:v>
                </c:pt>
                <c:pt idx="18">
                  <c:v>33.016536458333327</c:v>
                </c:pt>
                <c:pt idx="19">
                  <c:v>32.107986111111117</c:v>
                </c:pt>
                <c:pt idx="20">
                  <c:v>31.216666666666669</c:v>
                </c:pt>
                <c:pt idx="21">
                  <c:v>34.673828125</c:v>
                </c:pt>
                <c:pt idx="22">
                  <c:v>37.278949652777769</c:v>
                </c:pt>
                <c:pt idx="23">
                  <c:v>42.180078125000001</c:v>
                </c:pt>
                <c:pt idx="24">
                  <c:v>37.66076388888888</c:v>
                </c:pt>
                <c:pt idx="25">
                  <c:v>62.769921874999994</c:v>
                </c:pt>
                <c:pt idx="26">
                  <c:v>69.45221354166668</c:v>
                </c:pt>
                <c:pt idx="27">
                  <c:v>105.51302083333331</c:v>
                </c:pt>
                <c:pt idx="28">
                  <c:v>67.416406250000009</c:v>
                </c:pt>
                <c:pt idx="29">
                  <c:v>67.772005208333326</c:v>
                </c:pt>
                <c:pt idx="30">
                  <c:v>60.985069444444449</c:v>
                </c:pt>
                <c:pt idx="31">
                  <c:v>44.352473958333334</c:v>
                </c:pt>
                <c:pt idx="32">
                  <c:v>37.526432291666659</c:v>
                </c:pt>
                <c:pt idx="33">
                  <c:v>37.876388888888883</c:v>
                </c:pt>
                <c:pt idx="34">
                  <c:v>35.198567708333329</c:v>
                </c:pt>
                <c:pt idx="35">
                  <c:v>56.971310763888894</c:v>
                </c:pt>
                <c:pt idx="36">
                  <c:v>58.706293402777774</c:v>
                </c:pt>
                <c:pt idx="37">
                  <c:v>54.942404513888889</c:v>
                </c:pt>
                <c:pt idx="38">
                  <c:v>39.94470486111112</c:v>
                </c:pt>
                <c:pt idx="39">
                  <c:v>49.274999999999991</c:v>
                </c:pt>
                <c:pt idx="40">
                  <c:v>42.915624999999999</c:v>
                </c:pt>
                <c:pt idx="41">
                  <c:v>5.6835503472222229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2FA-4264-BB0A-B38726A0E843}"/>
            </c:ext>
          </c:extLst>
        </c:ser>
        <c:ser>
          <c:idx val="1"/>
          <c:order val="1"/>
          <c:tx>
            <c:strRef>
              <c:f>FTE!$D$3</c:f>
              <c:strCache>
                <c:ptCount val="1"/>
                <c:pt idx="0">
                  <c:v>   Required Headcount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multiLvlStrRef>
              <c:f>FTE!$A$4:$B$50</c:f>
              <c:multiLvlStrCache>
                <c:ptCount val="4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</c:v>
                  </c:pt>
                  <c:pt idx="13">
                    <c:v>2</c:v>
                  </c:pt>
                  <c:pt idx="14">
                    <c:v>3</c:v>
                  </c:pt>
                  <c:pt idx="15">
                    <c:v>4</c:v>
                  </c:pt>
                  <c:pt idx="16">
                    <c:v>5</c:v>
                  </c:pt>
                  <c:pt idx="17">
                    <c:v>6</c:v>
                  </c:pt>
                  <c:pt idx="18">
                    <c:v>7</c:v>
                  </c:pt>
                  <c:pt idx="19">
                    <c:v>8</c:v>
                  </c:pt>
                  <c:pt idx="20">
                    <c:v>9</c:v>
                  </c:pt>
                  <c:pt idx="21">
                    <c:v>10</c:v>
                  </c:pt>
                  <c:pt idx="22">
                    <c:v>11</c:v>
                  </c:pt>
                  <c:pt idx="23">
                    <c:v>12</c:v>
                  </c:pt>
                  <c:pt idx="24">
                    <c:v>1</c:v>
                  </c:pt>
                  <c:pt idx="25">
                    <c:v>2</c:v>
                  </c:pt>
                  <c:pt idx="26">
                    <c:v>3</c:v>
                  </c:pt>
                  <c:pt idx="27">
                    <c:v>4</c:v>
                  </c:pt>
                  <c:pt idx="28">
                    <c:v>5</c:v>
                  </c:pt>
                  <c:pt idx="29">
                    <c:v>6</c:v>
                  </c:pt>
                  <c:pt idx="30">
                    <c:v>7</c:v>
                  </c:pt>
                  <c:pt idx="31">
                    <c:v>8</c:v>
                  </c:pt>
                  <c:pt idx="32">
                    <c:v>9</c:v>
                  </c:pt>
                  <c:pt idx="33">
                    <c:v>10</c:v>
                  </c:pt>
                  <c:pt idx="34">
                    <c:v>11</c:v>
                  </c:pt>
                  <c:pt idx="35">
                    <c:v>12</c:v>
                  </c:pt>
                  <c:pt idx="36">
                    <c:v>1</c:v>
                  </c:pt>
                  <c:pt idx="37">
                    <c:v>2</c:v>
                  </c:pt>
                  <c:pt idx="38">
                    <c:v>3</c:v>
                  </c:pt>
                  <c:pt idx="39">
                    <c:v>4</c:v>
                  </c:pt>
                  <c:pt idx="40">
                    <c:v>5</c:v>
                  </c:pt>
                  <c:pt idx="41">
                    <c:v>6</c:v>
                  </c:pt>
                </c:lvl>
                <c:lvl>
                  <c:pt idx="0">
                    <c:v>2020</c:v>
                  </c:pt>
                  <c:pt idx="12">
                    <c:v>2021</c:v>
                  </c:pt>
                  <c:pt idx="24">
                    <c:v>2022</c:v>
                  </c:pt>
                  <c:pt idx="36">
                    <c:v>2023</c:v>
                  </c:pt>
                </c:lvl>
              </c:multiLvlStrCache>
            </c:multiLvlStrRef>
          </c:cat>
          <c:val>
            <c:numRef>
              <c:f>FTE!$D$4:$D$50</c:f>
              <c:numCache>
                <c:formatCode>0.00</c:formatCode>
                <c:ptCount val="42"/>
                <c:pt idx="0">
                  <c:v>36.196093750000003</c:v>
                </c:pt>
                <c:pt idx="1">
                  <c:v>37.136284722222221</c:v>
                </c:pt>
                <c:pt idx="2">
                  <c:v>33.461024305555554</c:v>
                </c:pt>
                <c:pt idx="3">
                  <c:v>32.585720486111114</c:v>
                </c:pt>
                <c:pt idx="4">
                  <c:v>36.272092013888894</c:v>
                </c:pt>
                <c:pt idx="5">
                  <c:v>31.253298611111109</c:v>
                </c:pt>
                <c:pt idx="6">
                  <c:v>36.288975694444446</c:v>
                </c:pt>
                <c:pt idx="7">
                  <c:v>41.117925347222219</c:v>
                </c:pt>
                <c:pt idx="8">
                  <c:v>36.46844618055556</c:v>
                </c:pt>
                <c:pt idx="9">
                  <c:v>40.927777777777784</c:v>
                </c:pt>
                <c:pt idx="10">
                  <c:v>34.291059027777777</c:v>
                </c:pt>
                <c:pt idx="11">
                  <c:v>42.532291666666666</c:v>
                </c:pt>
                <c:pt idx="12">
                  <c:v>34.61302083333333</c:v>
                </c:pt>
                <c:pt idx="13">
                  <c:v>28.761241319444444</c:v>
                </c:pt>
                <c:pt idx="14">
                  <c:v>32.735069444444449</c:v>
                </c:pt>
                <c:pt idx="15">
                  <c:v>31.053906249999997</c:v>
                </c:pt>
                <c:pt idx="16">
                  <c:v>31.51423611111111</c:v>
                </c:pt>
                <c:pt idx="17">
                  <c:v>36.875173611111116</c:v>
                </c:pt>
                <c:pt idx="18">
                  <c:v>35.066232638888877</c:v>
                </c:pt>
                <c:pt idx="19">
                  <c:v>32.531206597222216</c:v>
                </c:pt>
                <c:pt idx="20">
                  <c:v>31.406901041666668</c:v>
                </c:pt>
                <c:pt idx="21">
                  <c:v>35.502083333333339</c:v>
                </c:pt>
                <c:pt idx="22">
                  <c:v>50.572005208333323</c:v>
                </c:pt>
                <c:pt idx="23">
                  <c:v>45.700737847222214</c:v>
                </c:pt>
                <c:pt idx="24">
                  <c:v>39.755251736111106</c:v>
                </c:pt>
                <c:pt idx="25">
                  <c:v>71.304687500000014</c:v>
                </c:pt>
                <c:pt idx="26">
                  <c:v>97.454123263888874</c:v>
                </c:pt>
                <c:pt idx="27">
                  <c:v>155.22252604166664</c:v>
                </c:pt>
                <c:pt idx="28">
                  <c:v>76.899218750000017</c:v>
                </c:pt>
                <c:pt idx="29">
                  <c:v>81.385329861111089</c:v>
                </c:pt>
                <c:pt idx="30">
                  <c:v>74.644270833333337</c:v>
                </c:pt>
                <c:pt idx="31">
                  <c:v>49.381163194444433</c:v>
                </c:pt>
                <c:pt idx="32">
                  <c:v>40.698828124999991</c:v>
                </c:pt>
                <c:pt idx="33">
                  <c:v>41.516362847222226</c:v>
                </c:pt>
                <c:pt idx="34">
                  <c:v>36.898654513888886</c:v>
                </c:pt>
                <c:pt idx="35">
                  <c:v>59.922482638888901</c:v>
                </c:pt>
                <c:pt idx="36">
                  <c:v>61.051736111111119</c:v>
                </c:pt>
                <c:pt idx="37">
                  <c:v>56.469357638888887</c:v>
                </c:pt>
                <c:pt idx="38">
                  <c:v>41.185633680555554</c:v>
                </c:pt>
                <c:pt idx="39">
                  <c:v>50.956076388888896</c:v>
                </c:pt>
                <c:pt idx="40">
                  <c:v>44.127734374999989</c:v>
                </c:pt>
                <c:pt idx="41">
                  <c:v>5.835243055555555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2FA-4264-BB0A-B38726A0E843}"/>
            </c:ext>
          </c:extLst>
        </c:ser>
        <c:ser>
          <c:idx val="2"/>
          <c:order val="2"/>
          <c:tx>
            <c:strRef>
              <c:f>FTE!$E$3</c:f>
              <c:strCache>
                <c:ptCount val="1"/>
                <c:pt idx="0">
                  <c:v>   Staff on Site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multiLvlStrRef>
              <c:f>FTE!$A$4:$B$50</c:f>
              <c:multiLvlStrCache>
                <c:ptCount val="4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</c:v>
                  </c:pt>
                  <c:pt idx="13">
                    <c:v>2</c:v>
                  </c:pt>
                  <c:pt idx="14">
                    <c:v>3</c:v>
                  </c:pt>
                  <c:pt idx="15">
                    <c:v>4</c:v>
                  </c:pt>
                  <c:pt idx="16">
                    <c:v>5</c:v>
                  </c:pt>
                  <c:pt idx="17">
                    <c:v>6</c:v>
                  </c:pt>
                  <c:pt idx="18">
                    <c:v>7</c:v>
                  </c:pt>
                  <c:pt idx="19">
                    <c:v>8</c:v>
                  </c:pt>
                  <c:pt idx="20">
                    <c:v>9</c:v>
                  </c:pt>
                  <c:pt idx="21">
                    <c:v>10</c:v>
                  </c:pt>
                  <c:pt idx="22">
                    <c:v>11</c:v>
                  </c:pt>
                  <c:pt idx="23">
                    <c:v>12</c:v>
                  </c:pt>
                  <c:pt idx="24">
                    <c:v>1</c:v>
                  </c:pt>
                  <c:pt idx="25">
                    <c:v>2</c:v>
                  </c:pt>
                  <c:pt idx="26">
                    <c:v>3</c:v>
                  </c:pt>
                  <c:pt idx="27">
                    <c:v>4</c:v>
                  </c:pt>
                  <c:pt idx="28">
                    <c:v>5</c:v>
                  </c:pt>
                  <c:pt idx="29">
                    <c:v>6</c:v>
                  </c:pt>
                  <c:pt idx="30">
                    <c:v>7</c:v>
                  </c:pt>
                  <c:pt idx="31">
                    <c:v>8</c:v>
                  </c:pt>
                  <c:pt idx="32">
                    <c:v>9</c:v>
                  </c:pt>
                  <c:pt idx="33">
                    <c:v>10</c:v>
                  </c:pt>
                  <c:pt idx="34">
                    <c:v>11</c:v>
                  </c:pt>
                  <c:pt idx="35">
                    <c:v>12</c:v>
                  </c:pt>
                  <c:pt idx="36">
                    <c:v>1</c:v>
                  </c:pt>
                  <c:pt idx="37">
                    <c:v>2</c:v>
                  </c:pt>
                  <c:pt idx="38">
                    <c:v>3</c:v>
                  </c:pt>
                  <c:pt idx="39">
                    <c:v>4</c:v>
                  </c:pt>
                  <c:pt idx="40">
                    <c:v>5</c:v>
                  </c:pt>
                  <c:pt idx="41">
                    <c:v>6</c:v>
                  </c:pt>
                </c:lvl>
                <c:lvl>
                  <c:pt idx="0">
                    <c:v>2020</c:v>
                  </c:pt>
                  <c:pt idx="12">
                    <c:v>2021</c:v>
                  </c:pt>
                  <c:pt idx="24">
                    <c:v>2022</c:v>
                  </c:pt>
                  <c:pt idx="36">
                    <c:v>2023</c:v>
                  </c:pt>
                </c:lvl>
              </c:multiLvlStrCache>
            </c:multiLvlStrRef>
          </c:cat>
          <c:val>
            <c:numRef>
              <c:f>FTE!$E$4:$E$50</c:f>
              <c:numCache>
                <c:formatCode>0.00</c:formatCode>
                <c:ptCount val="42"/>
                <c:pt idx="0">
                  <c:v>58</c:v>
                </c:pt>
                <c:pt idx="1">
                  <c:v>54</c:v>
                </c:pt>
                <c:pt idx="2">
                  <c:v>57</c:v>
                </c:pt>
                <c:pt idx="3">
                  <c:v>56</c:v>
                </c:pt>
                <c:pt idx="4">
                  <c:v>57</c:v>
                </c:pt>
                <c:pt idx="5">
                  <c:v>56</c:v>
                </c:pt>
                <c:pt idx="6">
                  <c:v>58</c:v>
                </c:pt>
                <c:pt idx="7">
                  <c:v>57</c:v>
                </c:pt>
                <c:pt idx="8">
                  <c:v>56</c:v>
                </c:pt>
                <c:pt idx="9">
                  <c:v>58</c:v>
                </c:pt>
                <c:pt idx="10">
                  <c:v>55</c:v>
                </c:pt>
                <c:pt idx="11">
                  <c:v>58</c:v>
                </c:pt>
                <c:pt idx="12">
                  <c:v>57</c:v>
                </c:pt>
                <c:pt idx="13">
                  <c:v>52</c:v>
                </c:pt>
                <c:pt idx="14">
                  <c:v>58</c:v>
                </c:pt>
                <c:pt idx="15">
                  <c:v>56</c:v>
                </c:pt>
                <c:pt idx="16">
                  <c:v>57</c:v>
                </c:pt>
                <c:pt idx="17">
                  <c:v>56</c:v>
                </c:pt>
                <c:pt idx="18">
                  <c:v>58</c:v>
                </c:pt>
                <c:pt idx="19">
                  <c:v>57</c:v>
                </c:pt>
                <c:pt idx="20">
                  <c:v>56</c:v>
                </c:pt>
                <c:pt idx="21">
                  <c:v>57</c:v>
                </c:pt>
                <c:pt idx="22">
                  <c:v>56</c:v>
                </c:pt>
                <c:pt idx="23">
                  <c:v>58</c:v>
                </c:pt>
                <c:pt idx="24">
                  <c:v>57</c:v>
                </c:pt>
                <c:pt idx="25">
                  <c:v>52</c:v>
                </c:pt>
                <c:pt idx="26">
                  <c:v>58</c:v>
                </c:pt>
                <c:pt idx="27">
                  <c:v>56</c:v>
                </c:pt>
                <c:pt idx="28">
                  <c:v>57</c:v>
                </c:pt>
                <c:pt idx="29">
                  <c:v>56</c:v>
                </c:pt>
                <c:pt idx="30">
                  <c:v>57</c:v>
                </c:pt>
                <c:pt idx="31">
                  <c:v>58</c:v>
                </c:pt>
                <c:pt idx="32">
                  <c:v>56</c:v>
                </c:pt>
                <c:pt idx="33">
                  <c:v>57</c:v>
                </c:pt>
                <c:pt idx="34">
                  <c:v>56</c:v>
                </c:pt>
                <c:pt idx="35">
                  <c:v>58</c:v>
                </c:pt>
                <c:pt idx="36">
                  <c:v>57</c:v>
                </c:pt>
                <c:pt idx="37">
                  <c:v>52</c:v>
                </c:pt>
                <c:pt idx="38">
                  <c:v>58</c:v>
                </c:pt>
                <c:pt idx="39">
                  <c:v>55</c:v>
                </c:pt>
                <c:pt idx="40">
                  <c:v>58</c:v>
                </c:pt>
                <c:pt idx="41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2FA-4264-BB0A-B38726A0E8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27595271"/>
        <c:axId val="1627597319"/>
      </c:lineChart>
      <c:catAx>
        <c:axId val="16275952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 and 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7597319"/>
        <c:crosses val="autoZero"/>
        <c:auto val="1"/>
        <c:lblAlgn val="ctr"/>
        <c:lblOffset val="100"/>
        <c:noMultiLvlLbl val="0"/>
      </c:catAx>
      <c:valAx>
        <c:axId val="1627597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Days of Required Workload per Month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7595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000000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[Prophet_Forecast_Results.xlsx]Call Volume Forecast!PivotTable2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Incoming Call Volume Actual vs. Forecast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'Call Volume Forecast'!$C$3</c:f>
              <c:strCache>
                <c:ptCount val="1"/>
                <c:pt idx="0">
                  <c:v>Incoming Call Volume (Actual (Outliers Refactored))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multiLvlStrRef>
              <c:f>'Call Volume Forecast'!$A$4:$B$273</c:f>
              <c:multiLvlStrCache>
                <c:ptCount val="26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1</c:v>
                  </c:pt>
                  <c:pt idx="54">
                    <c:v>2</c:v>
                  </c:pt>
                  <c:pt idx="55">
                    <c:v>3</c:v>
                  </c:pt>
                  <c:pt idx="56">
                    <c:v>4</c:v>
                  </c:pt>
                  <c:pt idx="57">
                    <c:v>5</c:v>
                  </c:pt>
                  <c:pt idx="58">
                    <c:v>6</c:v>
                  </c:pt>
                  <c:pt idx="59">
                    <c:v>7</c:v>
                  </c:pt>
                  <c:pt idx="60">
                    <c:v>8</c:v>
                  </c:pt>
                  <c:pt idx="61">
                    <c:v>9</c:v>
                  </c:pt>
                  <c:pt idx="62">
                    <c:v>10</c:v>
                  </c:pt>
                  <c:pt idx="63">
                    <c:v>11</c:v>
                  </c:pt>
                  <c:pt idx="64">
                    <c:v>12</c:v>
                  </c:pt>
                  <c:pt idx="65">
                    <c:v>13</c:v>
                  </c:pt>
                  <c:pt idx="66">
                    <c:v>14</c:v>
                  </c:pt>
                  <c:pt idx="67">
                    <c:v>15</c:v>
                  </c:pt>
                  <c:pt idx="68">
                    <c:v>16</c:v>
                  </c:pt>
                  <c:pt idx="69">
                    <c:v>17</c:v>
                  </c:pt>
                  <c:pt idx="70">
                    <c:v>18</c:v>
                  </c:pt>
                  <c:pt idx="71">
                    <c:v>19</c:v>
                  </c:pt>
                  <c:pt idx="72">
                    <c:v>20</c:v>
                  </c:pt>
                  <c:pt idx="73">
                    <c:v>21</c:v>
                  </c:pt>
                  <c:pt idx="74">
                    <c:v>22</c:v>
                  </c:pt>
                  <c:pt idx="75">
                    <c:v>23</c:v>
                  </c:pt>
                  <c:pt idx="76">
                    <c:v>24</c:v>
                  </c:pt>
                  <c:pt idx="77">
                    <c:v>25</c:v>
                  </c:pt>
                  <c:pt idx="78">
                    <c:v>26</c:v>
                  </c:pt>
                  <c:pt idx="79">
                    <c:v>27</c:v>
                  </c:pt>
                  <c:pt idx="80">
                    <c:v>28</c:v>
                  </c:pt>
                  <c:pt idx="81">
                    <c:v>29</c:v>
                  </c:pt>
                  <c:pt idx="82">
                    <c:v>30</c:v>
                  </c:pt>
                  <c:pt idx="83">
                    <c:v>31</c:v>
                  </c:pt>
                  <c:pt idx="84">
                    <c:v>32</c:v>
                  </c:pt>
                  <c:pt idx="85">
                    <c:v>33</c:v>
                  </c:pt>
                  <c:pt idx="86">
                    <c:v>34</c:v>
                  </c:pt>
                  <c:pt idx="87">
                    <c:v>35</c:v>
                  </c:pt>
                  <c:pt idx="88">
                    <c:v>36</c:v>
                  </c:pt>
                  <c:pt idx="89">
                    <c:v>37</c:v>
                  </c:pt>
                  <c:pt idx="90">
                    <c:v>38</c:v>
                  </c:pt>
                  <c:pt idx="91">
                    <c:v>39</c:v>
                  </c:pt>
                  <c:pt idx="92">
                    <c:v>40</c:v>
                  </c:pt>
                  <c:pt idx="93">
                    <c:v>41</c:v>
                  </c:pt>
                  <c:pt idx="94">
                    <c:v>42</c:v>
                  </c:pt>
                  <c:pt idx="95">
                    <c:v>43</c:v>
                  </c:pt>
                  <c:pt idx="96">
                    <c:v>44</c:v>
                  </c:pt>
                  <c:pt idx="97">
                    <c:v>45</c:v>
                  </c:pt>
                  <c:pt idx="98">
                    <c:v>46</c:v>
                  </c:pt>
                  <c:pt idx="99">
                    <c:v>47</c:v>
                  </c:pt>
                  <c:pt idx="100">
                    <c:v>48</c:v>
                  </c:pt>
                  <c:pt idx="101">
                    <c:v>49</c:v>
                  </c:pt>
                  <c:pt idx="102">
                    <c:v>50</c:v>
                  </c:pt>
                  <c:pt idx="103">
                    <c:v>51</c:v>
                  </c:pt>
                  <c:pt idx="104">
                    <c:v>52</c:v>
                  </c:pt>
                  <c:pt idx="105">
                    <c:v>53</c:v>
                  </c:pt>
                  <c:pt idx="106">
                    <c:v>1</c:v>
                  </c:pt>
                  <c:pt idx="107">
                    <c:v>2</c:v>
                  </c:pt>
                  <c:pt idx="108">
                    <c:v>3</c:v>
                  </c:pt>
                  <c:pt idx="109">
                    <c:v>4</c:v>
                  </c:pt>
                  <c:pt idx="110">
                    <c:v>5</c:v>
                  </c:pt>
                  <c:pt idx="111">
                    <c:v>6</c:v>
                  </c:pt>
                  <c:pt idx="112">
                    <c:v>7</c:v>
                  </c:pt>
                  <c:pt idx="113">
                    <c:v>8</c:v>
                  </c:pt>
                  <c:pt idx="114">
                    <c:v>9</c:v>
                  </c:pt>
                  <c:pt idx="115">
                    <c:v>10</c:v>
                  </c:pt>
                  <c:pt idx="116">
                    <c:v>11</c:v>
                  </c:pt>
                  <c:pt idx="117">
                    <c:v>12</c:v>
                  </c:pt>
                  <c:pt idx="118">
                    <c:v>13</c:v>
                  </c:pt>
                  <c:pt idx="119">
                    <c:v>14</c:v>
                  </c:pt>
                  <c:pt idx="120">
                    <c:v>15</c:v>
                  </c:pt>
                  <c:pt idx="121">
                    <c:v>16</c:v>
                  </c:pt>
                  <c:pt idx="122">
                    <c:v>18</c:v>
                  </c:pt>
                  <c:pt idx="123">
                    <c:v>19</c:v>
                  </c:pt>
                  <c:pt idx="124">
                    <c:v>20</c:v>
                  </c:pt>
                  <c:pt idx="125">
                    <c:v>21</c:v>
                  </c:pt>
                  <c:pt idx="126">
                    <c:v>22</c:v>
                  </c:pt>
                  <c:pt idx="127">
                    <c:v>23</c:v>
                  </c:pt>
                  <c:pt idx="128">
                    <c:v>24</c:v>
                  </c:pt>
                  <c:pt idx="129">
                    <c:v>25</c:v>
                  </c:pt>
                  <c:pt idx="130">
                    <c:v>26</c:v>
                  </c:pt>
                  <c:pt idx="131">
                    <c:v>27</c:v>
                  </c:pt>
                  <c:pt idx="132">
                    <c:v>28</c:v>
                  </c:pt>
                  <c:pt idx="133">
                    <c:v>29</c:v>
                  </c:pt>
                  <c:pt idx="134">
                    <c:v>30</c:v>
                  </c:pt>
                  <c:pt idx="135">
                    <c:v>31</c:v>
                  </c:pt>
                  <c:pt idx="136">
                    <c:v>32</c:v>
                  </c:pt>
                  <c:pt idx="137">
                    <c:v>33</c:v>
                  </c:pt>
                  <c:pt idx="138">
                    <c:v>34</c:v>
                  </c:pt>
                  <c:pt idx="139">
                    <c:v>35</c:v>
                  </c:pt>
                  <c:pt idx="140">
                    <c:v>36</c:v>
                  </c:pt>
                  <c:pt idx="141">
                    <c:v>37</c:v>
                  </c:pt>
                  <c:pt idx="142">
                    <c:v>38</c:v>
                  </c:pt>
                  <c:pt idx="143">
                    <c:v>39</c:v>
                  </c:pt>
                  <c:pt idx="144">
                    <c:v>40</c:v>
                  </c:pt>
                  <c:pt idx="145">
                    <c:v>41</c:v>
                  </c:pt>
                  <c:pt idx="146">
                    <c:v>42</c:v>
                  </c:pt>
                  <c:pt idx="147">
                    <c:v>43</c:v>
                  </c:pt>
                  <c:pt idx="148">
                    <c:v>44</c:v>
                  </c:pt>
                  <c:pt idx="149">
                    <c:v>45</c:v>
                  </c:pt>
                  <c:pt idx="150">
                    <c:v>46</c:v>
                  </c:pt>
                  <c:pt idx="151">
                    <c:v>47</c:v>
                  </c:pt>
                  <c:pt idx="152">
                    <c:v>48</c:v>
                  </c:pt>
                  <c:pt idx="153">
                    <c:v>49</c:v>
                  </c:pt>
                  <c:pt idx="154">
                    <c:v>50</c:v>
                  </c:pt>
                  <c:pt idx="155">
                    <c:v>51</c:v>
                  </c:pt>
                  <c:pt idx="156">
                    <c:v>52</c:v>
                  </c:pt>
                  <c:pt idx="157">
                    <c:v>53</c:v>
                  </c:pt>
                  <c:pt idx="158">
                    <c:v>1</c:v>
                  </c:pt>
                  <c:pt idx="159">
                    <c:v>2</c:v>
                  </c:pt>
                  <c:pt idx="160">
                    <c:v>3</c:v>
                  </c:pt>
                  <c:pt idx="161">
                    <c:v>4</c:v>
                  </c:pt>
                  <c:pt idx="162">
                    <c:v>5</c:v>
                  </c:pt>
                  <c:pt idx="163">
                    <c:v>6</c:v>
                  </c:pt>
                  <c:pt idx="164">
                    <c:v>7</c:v>
                  </c:pt>
                  <c:pt idx="165">
                    <c:v>8</c:v>
                  </c:pt>
                  <c:pt idx="166">
                    <c:v>9</c:v>
                  </c:pt>
                  <c:pt idx="167">
                    <c:v>10</c:v>
                  </c:pt>
                  <c:pt idx="168">
                    <c:v>11</c:v>
                  </c:pt>
                  <c:pt idx="169">
                    <c:v>12</c:v>
                  </c:pt>
                  <c:pt idx="170">
                    <c:v>13</c:v>
                  </c:pt>
                  <c:pt idx="171">
                    <c:v>14</c:v>
                  </c:pt>
                  <c:pt idx="172">
                    <c:v>15</c:v>
                  </c:pt>
                  <c:pt idx="173">
                    <c:v>16</c:v>
                  </c:pt>
                  <c:pt idx="174">
                    <c:v>17</c:v>
                  </c:pt>
                  <c:pt idx="175">
                    <c:v>18</c:v>
                  </c:pt>
                  <c:pt idx="176">
                    <c:v>19</c:v>
                  </c:pt>
                  <c:pt idx="177">
                    <c:v>20</c:v>
                  </c:pt>
                  <c:pt idx="178">
                    <c:v>21</c:v>
                  </c:pt>
                  <c:pt idx="179">
                    <c:v>22</c:v>
                  </c:pt>
                  <c:pt idx="180">
                    <c:v>23</c:v>
                  </c:pt>
                  <c:pt idx="181">
                    <c:v>24</c:v>
                  </c:pt>
                  <c:pt idx="182">
                    <c:v>25</c:v>
                  </c:pt>
                  <c:pt idx="183">
                    <c:v>26</c:v>
                  </c:pt>
                  <c:pt idx="184">
                    <c:v>27</c:v>
                  </c:pt>
                  <c:pt idx="185">
                    <c:v>28</c:v>
                  </c:pt>
                  <c:pt idx="186">
                    <c:v>29</c:v>
                  </c:pt>
                  <c:pt idx="187">
                    <c:v>30</c:v>
                  </c:pt>
                  <c:pt idx="188">
                    <c:v>31</c:v>
                  </c:pt>
                  <c:pt idx="189">
                    <c:v>32</c:v>
                  </c:pt>
                  <c:pt idx="190">
                    <c:v>33</c:v>
                  </c:pt>
                  <c:pt idx="191">
                    <c:v>34</c:v>
                  </c:pt>
                  <c:pt idx="192">
                    <c:v>35</c:v>
                  </c:pt>
                  <c:pt idx="193">
                    <c:v>36</c:v>
                  </c:pt>
                  <c:pt idx="194">
                    <c:v>37</c:v>
                  </c:pt>
                  <c:pt idx="195">
                    <c:v>38</c:v>
                  </c:pt>
                  <c:pt idx="196">
                    <c:v>39</c:v>
                  </c:pt>
                  <c:pt idx="197">
                    <c:v>40</c:v>
                  </c:pt>
                  <c:pt idx="198">
                    <c:v>41</c:v>
                  </c:pt>
                  <c:pt idx="199">
                    <c:v>42</c:v>
                  </c:pt>
                  <c:pt idx="200">
                    <c:v>43</c:v>
                  </c:pt>
                  <c:pt idx="201">
                    <c:v>44</c:v>
                  </c:pt>
                  <c:pt idx="202">
                    <c:v>45</c:v>
                  </c:pt>
                  <c:pt idx="203">
                    <c:v>46</c:v>
                  </c:pt>
                  <c:pt idx="204">
                    <c:v>47</c:v>
                  </c:pt>
                  <c:pt idx="205">
                    <c:v>48</c:v>
                  </c:pt>
                  <c:pt idx="206">
                    <c:v>49</c:v>
                  </c:pt>
                  <c:pt idx="207">
                    <c:v>50</c:v>
                  </c:pt>
                  <c:pt idx="208">
                    <c:v>51</c:v>
                  </c:pt>
                  <c:pt idx="209">
                    <c:v>52</c:v>
                  </c:pt>
                  <c:pt idx="210">
                    <c:v>53</c:v>
                  </c:pt>
                  <c:pt idx="211">
                    <c:v>1</c:v>
                  </c:pt>
                  <c:pt idx="212">
                    <c:v>2</c:v>
                  </c:pt>
                  <c:pt idx="213">
                    <c:v>3</c:v>
                  </c:pt>
                  <c:pt idx="214">
                    <c:v>4</c:v>
                  </c:pt>
                  <c:pt idx="215">
                    <c:v>5</c:v>
                  </c:pt>
                  <c:pt idx="216">
                    <c:v>6</c:v>
                  </c:pt>
                  <c:pt idx="217">
                    <c:v>7</c:v>
                  </c:pt>
                  <c:pt idx="218">
                    <c:v>8</c:v>
                  </c:pt>
                  <c:pt idx="219">
                    <c:v>9</c:v>
                  </c:pt>
                  <c:pt idx="220">
                    <c:v>10</c:v>
                  </c:pt>
                  <c:pt idx="221">
                    <c:v>11</c:v>
                  </c:pt>
                  <c:pt idx="222">
                    <c:v>12</c:v>
                  </c:pt>
                  <c:pt idx="223">
                    <c:v>13</c:v>
                  </c:pt>
                  <c:pt idx="224">
                    <c:v>14</c:v>
                  </c:pt>
                  <c:pt idx="225">
                    <c:v>15</c:v>
                  </c:pt>
                  <c:pt idx="226">
                    <c:v>16</c:v>
                  </c:pt>
                  <c:pt idx="227">
                    <c:v>17</c:v>
                  </c:pt>
                  <c:pt idx="228">
                    <c:v>18</c:v>
                  </c:pt>
                  <c:pt idx="229">
                    <c:v>19</c:v>
                  </c:pt>
                  <c:pt idx="230">
                    <c:v>20</c:v>
                  </c:pt>
                  <c:pt idx="231">
                    <c:v>21</c:v>
                  </c:pt>
                  <c:pt idx="232">
                    <c:v>22</c:v>
                  </c:pt>
                  <c:pt idx="233">
                    <c:v>23</c:v>
                  </c:pt>
                  <c:pt idx="234">
                    <c:v>24</c:v>
                  </c:pt>
                  <c:pt idx="235">
                    <c:v>25</c:v>
                  </c:pt>
                  <c:pt idx="236">
                    <c:v>26</c:v>
                  </c:pt>
                  <c:pt idx="237">
                    <c:v>27</c:v>
                  </c:pt>
                  <c:pt idx="238">
                    <c:v>28</c:v>
                  </c:pt>
                  <c:pt idx="239">
                    <c:v>29</c:v>
                  </c:pt>
                  <c:pt idx="240">
                    <c:v>30</c:v>
                  </c:pt>
                  <c:pt idx="241">
                    <c:v>31</c:v>
                  </c:pt>
                  <c:pt idx="242">
                    <c:v>32</c:v>
                  </c:pt>
                  <c:pt idx="243">
                    <c:v>33</c:v>
                  </c:pt>
                  <c:pt idx="244">
                    <c:v>34</c:v>
                  </c:pt>
                  <c:pt idx="245">
                    <c:v>35</c:v>
                  </c:pt>
                  <c:pt idx="246">
                    <c:v>36</c:v>
                  </c:pt>
                  <c:pt idx="247">
                    <c:v>37</c:v>
                  </c:pt>
                  <c:pt idx="248">
                    <c:v>38</c:v>
                  </c:pt>
                  <c:pt idx="249">
                    <c:v>39</c:v>
                  </c:pt>
                  <c:pt idx="250">
                    <c:v>40</c:v>
                  </c:pt>
                  <c:pt idx="251">
                    <c:v>41</c:v>
                  </c:pt>
                  <c:pt idx="252">
                    <c:v>42</c:v>
                  </c:pt>
                  <c:pt idx="253">
                    <c:v>43</c:v>
                  </c:pt>
                  <c:pt idx="254">
                    <c:v>44</c:v>
                  </c:pt>
                  <c:pt idx="255">
                    <c:v>45</c:v>
                  </c:pt>
                  <c:pt idx="256">
                    <c:v>46</c:v>
                  </c:pt>
                  <c:pt idx="257">
                    <c:v>47</c:v>
                  </c:pt>
                  <c:pt idx="258">
                    <c:v>48</c:v>
                  </c:pt>
                  <c:pt idx="259">
                    <c:v>49</c:v>
                  </c:pt>
                  <c:pt idx="260">
                    <c:v>50</c:v>
                  </c:pt>
                  <c:pt idx="261">
                    <c:v>51</c:v>
                  </c:pt>
                  <c:pt idx="262">
                    <c:v>52</c:v>
                  </c:pt>
                  <c:pt idx="263">
                    <c:v>53</c:v>
                  </c:pt>
                </c:lvl>
                <c:lvl>
                  <c:pt idx="0">
                    <c:v>2020</c:v>
                  </c:pt>
                  <c:pt idx="53">
                    <c:v>2021</c:v>
                  </c:pt>
                  <c:pt idx="106">
                    <c:v>2022</c:v>
                  </c:pt>
                  <c:pt idx="158">
                    <c:v>2023</c:v>
                  </c:pt>
                  <c:pt idx="211">
                    <c:v>2024</c:v>
                  </c:pt>
                </c:lvl>
              </c:multiLvlStrCache>
            </c:multiLvlStrRef>
          </c:cat>
          <c:val>
            <c:numRef>
              <c:f>'Call Volume Forecast'!$C$4:$C$273</c:f>
              <c:numCache>
                <c:formatCode>General</c:formatCode>
                <c:ptCount val="264"/>
                <c:pt idx="0">
                  <c:v>435</c:v>
                </c:pt>
                <c:pt idx="1">
                  <c:v>1023</c:v>
                </c:pt>
                <c:pt idx="2">
                  <c:v>1713</c:v>
                </c:pt>
                <c:pt idx="3">
                  <c:v>1149</c:v>
                </c:pt>
                <c:pt idx="4">
                  <c:v>1057</c:v>
                </c:pt>
                <c:pt idx="5">
                  <c:v>1121</c:v>
                </c:pt>
                <c:pt idx="6">
                  <c:v>1736</c:v>
                </c:pt>
                <c:pt idx="7">
                  <c:v>1308</c:v>
                </c:pt>
                <c:pt idx="8">
                  <c:v>1240</c:v>
                </c:pt>
                <c:pt idx="9">
                  <c:v>1382</c:v>
                </c:pt>
                <c:pt idx="10">
                  <c:v>1345</c:v>
                </c:pt>
                <c:pt idx="11">
                  <c:v>970</c:v>
                </c:pt>
                <c:pt idx="12">
                  <c:v>797</c:v>
                </c:pt>
                <c:pt idx="13">
                  <c:v>929</c:v>
                </c:pt>
                <c:pt idx="14">
                  <c:v>1072</c:v>
                </c:pt>
                <c:pt idx="15">
                  <c:v>1232</c:v>
                </c:pt>
                <c:pt idx="16">
                  <c:v>1263</c:v>
                </c:pt>
                <c:pt idx="17">
                  <c:v>1046</c:v>
                </c:pt>
                <c:pt idx="18">
                  <c:v>1102</c:v>
                </c:pt>
                <c:pt idx="19">
                  <c:v>1596</c:v>
                </c:pt>
                <c:pt idx="20">
                  <c:v>1071</c:v>
                </c:pt>
                <c:pt idx="21">
                  <c:v>961</c:v>
                </c:pt>
                <c:pt idx="22">
                  <c:v>1308</c:v>
                </c:pt>
                <c:pt idx="23">
                  <c:v>892</c:v>
                </c:pt>
                <c:pt idx="24">
                  <c:v>824</c:v>
                </c:pt>
                <c:pt idx="25">
                  <c:v>958</c:v>
                </c:pt>
                <c:pt idx="26">
                  <c:v>1286</c:v>
                </c:pt>
                <c:pt idx="27">
                  <c:v>1282</c:v>
                </c:pt>
                <c:pt idx="28">
                  <c:v>1348</c:v>
                </c:pt>
                <c:pt idx="29">
                  <c:v>1178</c:v>
                </c:pt>
                <c:pt idx="30">
                  <c:v>1025</c:v>
                </c:pt>
                <c:pt idx="31">
                  <c:v>1141</c:v>
                </c:pt>
                <c:pt idx="32">
                  <c:v>1442</c:v>
                </c:pt>
                <c:pt idx="33">
                  <c:v>937</c:v>
                </c:pt>
                <c:pt idx="34">
                  <c:v>679</c:v>
                </c:pt>
                <c:pt idx="35">
                  <c:v>1179</c:v>
                </c:pt>
                <c:pt idx="36">
                  <c:v>1365</c:v>
                </c:pt>
                <c:pt idx="37">
                  <c:v>663</c:v>
                </c:pt>
                <c:pt idx="38">
                  <c:v>1111</c:v>
                </c:pt>
                <c:pt idx="39">
                  <c:v>1580</c:v>
                </c:pt>
                <c:pt idx="40">
                  <c:v>1444</c:v>
                </c:pt>
                <c:pt idx="41">
                  <c:v>1324</c:v>
                </c:pt>
                <c:pt idx="42">
                  <c:v>1641</c:v>
                </c:pt>
                <c:pt idx="43">
                  <c:v>1420</c:v>
                </c:pt>
                <c:pt idx="44">
                  <c:v>1181</c:v>
                </c:pt>
                <c:pt idx="45">
                  <c:v>1368</c:v>
                </c:pt>
                <c:pt idx="46">
                  <c:v>1113</c:v>
                </c:pt>
                <c:pt idx="47">
                  <c:v>1023</c:v>
                </c:pt>
                <c:pt idx="48">
                  <c:v>962</c:v>
                </c:pt>
                <c:pt idx="49">
                  <c:v>1122</c:v>
                </c:pt>
                <c:pt idx="50">
                  <c:v>1115</c:v>
                </c:pt>
                <c:pt idx="51">
                  <c:v>1120</c:v>
                </c:pt>
                <c:pt idx="52">
                  <c:v>1153</c:v>
                </c:pt>
                <c:pt idx="53">
                  <c:v>446</c:v>
                </c:pt>
                <c:pt idx="54">
                  <c:v>874</c:v>
                </c:pt>
                <c:pt idx="55">
                  <c:v>1266</c:v>
                </c:pt>
                <c:pt idx="56">
                  <c:v>1012</c:v>
                </c:pt>
                <c:pt idx="57">
                  <c:v>1012</c:v>
                </c:pt>
                <c:pt idx="58">
                  <c:v>737</c:v>
                </c:pt>
                <c:pt idx="59">
                  <c:v>1169</c:v>
                </c:pt>
                <c:pt idx="60">
                  <c:v>926</c:v>
                </c:pt>
                <c:pt idx="61">
                  <c:v>904</c:v>
                </c:pt>
                <c:pt idx="62">
                  <c:v>725</c:v>
                </c:pt>
                <c:pt idx="63">
                  <c:v>1417</c:v>
                </c:pt>
                <c:pt idx="64">
                  <c:v>774</c:v>
                </c:pt>
                <c:pt idx="65">
                  <c:v>412</c:v>
                </c:pt>
                <c:pt idx="66">
                  <c:v>708</c:v>
                </c:pt>
                <c:pt idx="67">
                  <c:v>731</c:v>
                </c:pt>
                <c:pt idx="68">
                  <c:v>1075</c:v>
                </c:pt>
                <c:pt idx="69">
                  <c:v>668</c:v>
                </c:pt>
                <c:pt idx="70">
                  <c:v>1124</c:v>
                </c:pt>
                <c:pt idx="71">
                  <c:v>889</c:v>
                </c:pt>
                <c:pt idx="72">
                  <c:v>675</c:v>
                </c:pt>
                <c:pt idx="73">
                  <c:v>805</c:v>
                </c:pt>
                <c:pt idx="74">
                  <c:v>614</c:v>
                </c:pt>
                <c:pt idx="75">
                  <c:v>829</c:v>
                </c:pt>
                <c:pt idx="76">
                  <c:v>1166</c:v>
                </c:pt>
                <c:pt idx="77">
                  <c:v>1159</c:v>
                </c:pt>
                <c:pt idx="78">
                  <c:v>1350</c:v>
                </c:pt>
                <c:pt idx="79">
                  <c:v>675</c:v>
                </c:pt>
                <c:pt idx="80">
                  <c:v>938</c:v>
                </c:pt>
                <c:pt idx="81">
                  <c:v>1093</c:v>
                </c:pt>
                <c:pt idx="82">
                  <c:v>1118</c:v>
                </c:pt>
                <c:pt idx="83">
                  <c:v>1048</c:v>
                </c:pt>
                <c:pt idx="84">
                  <c:v>990</c:v>
                </c:pt>
                <c:pt idx="85">
                  <c:v>803</c:v>
                </c:pt>
                <c:pt idx="86">
                  <c:v>668</c:v>
                </c:pt>
                <c:pt idx="87">
                  <c:v>723</c:v>
                </c:pt>
                <c:pt idx="88">
                  <c:v>1026</c:v>
                </c:pt>
                <c:pt idx="89">
                  <c:v>805</c:v>
                </c:pt>
                <c:pt idx="90">
                  <c:v>905</c:v>
                </c:pt>
                <c:pt idx="91">
                  <c:v>902</c:v>
                </c:pt>
                <c:pt idx="92">
                  <c:v>634</c:v>
                </c:pt>
                <c:pt idx="93">
                  <c:v>1085</c:v>
                </c:pt>
                <c:pt idx="94">
                  <c:v>931</c:v>
                </c:pt>
                <c:pt idx="95">
                  <c:v>935</c:v>
                </c:pt>
                <c:pt idx="96">
                  <c:v>1030</c:v>
                </c:pt>
                <c:pt idx="97">
                  <c:v>983</c:v>
                </c:pt>
                <c:pt idx="98">
                  <c:v>943</c:v>
                </c:pt>
                <c:pt idx="99">
                  <c:v>537</c:v>
                </c:pt>
                <c:pt idx="100">
                  <c:v>462</c:v>
                </c:pt>
                <c:pt idx="101">
                  <c:v>1476</c:v>
                </c:pt>
                <c:pt idx="102">
                  <c:v>981</c:v>
                </c:pt>
                <c:pt idx="103">
                  <c:v>1274</c:v>
                </c:pt>
                <c:pt idx="104">
                  <c:v>1027</c:v>
                </c:pt>
                <c:pt idx="105">
                  <c:v>857</c:v>
                </c:pt>
                <c:pt idx="106">
                  <c:v>161</c:v>
                </c:pt>
                <c:pt idx="107">
                  <c:v>1005</c:v>
                </c:pt>
                <c:pt idx="108">
                  <c:v>1524</c:v>
                </c:pt>
                <c:pt idx="109">
                  <c:v>1280</c:v>
                </c:pt>
                <c:pt idx="110">
                  <c:v>1060</c:v>
                </c:pt>
                <c:pt idx="111">
                  <c:v>1706</c:v>
                </c:pt>
                <c:pt idx="112">
                  <c:v>793</c:v>
                </c:pt>
                <c:pt idx="113">
                  <c:v>2188</c:v>
                </c:pt>
                <c:pt idx="114">
                  <c:v>2168</c:v>
                </c:pt>
                <c:pt idx="115">
                  <c:v>1042</c:v>
                </c:pt>
                <c:pt idx="116">
                  <c:v>1268</c:v>
                </c:pt>
                <c:pt idx="117">
                  <c:v>776</c:v>
                </c:pt>
                <c:pt idx="118">
                  <c:v>1146</c:v>
                </c:pt>
                <c:pt idx="119">
                  <c:v>1111</c:v>
                </c:pt>
                <c:pt idx="120">
                  <c:v>1667</c:v>
                </c:pt>
                <c:pt idx="121">
                  <c:v>800</c:v>
                </c:pt>
                <c:pt idx="122">
                  <c:v>252</c:v>
                </c:pt>
                <c:pt idx="123">
                  <c:v>1794</c:v>
                </c:pt>
                <c:pt idx="124">
                  <c:v>1632</c:v>
                </c:pt>
                <c:pt idx="125">
                  <c:v>1570</c:v>
                </c:pt>
                <c:pt idx="126">
                  <c:v>1579</c:v>
                </c:pt>
                <c:pt idx="127">
                  <c:v>1195</c:v>
                </c:pt>
                <c:pt idx="128">
                  <c:v>1554</c:v>
                </c:pt>
                <c:pt idx="129">
                  <c:v>1516</c:v>
                </c:pt>
                <c:pt idx="130">
                  <c:v>1866</c:v>
                </c:pt>
                <c:pt idx="131">
                  <c:v>1304</c:v>
                </c:pt>
                <c:pt idx="132">
                  <c:v>1844</c:v>
                </c:pt>
                <c:pt idx="133">
                  <c:v>1632</c:v>
                </c:pt>
                <c:pt idx="134">
                  <c:v>1531</c:v>
                </c:pt>
                <c:pt idx="135">
                  <c:v>1213</c:v>
                </c:pt>
                <c:pt idx="136">
                  <c:v>1464</c:v>
                </c:pt>
                <c:pt idx="137">
                  <c:v>1271</c:v>
                </c:pt>
                <c:pt idx="138">
                  <c:v>1305</c:v>
                </c:pt>
                <c:pt idx="139">
                  <c:v>1339</c:v>
                </c:pt>
                <c:pt idx="140">
                  <c:v>632</c:v>
                </c:pt>
                <c:pt idx="141">
                  <c:v>1260</c:v>
                </c:pt>
                <c:pt idx="142">
                  <c:v>1745</c:v>
                </c:pt>
                <c:pt idx="143">
                  <c:v>1025</c:v>
                </c:pt>
                <c:pt idx="144">
                  <c:v>1198</c:v>
                </c:pt>
                <c:pt idx="145">
                  <c:v>1198</c:v>
                </c:pt>
                <c:pt idx="146">
                  <c:v>1398</c:v>
                </c:pt>
                <c:pt idx="147">
                  <c:v>1437</c:v>
                </c:pt>
                <c:pt idx="148">
                  <c:v>977</c:v>
                </c:pt>
                <c:pt idx="149">
                  <c:v>1390</c:v>
                </c:pt>
                <c:pt idx="150">
                  <c:v>1483</c:v>
                </c:pt>
                <c:pt idx="151">
                  <c:v>985</c:v>
                </c:pt>
                <c:pt idx="152">
                  <c:v>1025</c:v>
                </c:pt>
                <c:pt idx="153">
                  <c:v>1027</c:v>
                </c:pt>
                <c:pt idx="154">
                  <c:v>1648</c:v>
                </c:pt>
                <c:pt idx="155">
                  <c:v>2115</c:v>
                </c:pt>
                <c:pt idx="156">
                  <c:v>1761</c:v>
                </c:pt>
                <c:pt idx="157">
                  <c:v>1516</c:v>
                </c:pt>
                <c:pt idx="158">
                  <c:v>1808</c:v>
                </c:pt>
                <c:pt idx="159">
                  <c:v>1868</c:v>
                </c:pt>
                <c:pt idx="160">
                  <c:v>1459</c:v>
                </c:pt>
                <c:pt idx="161">
                  <c:v>1934</c:v>
                </c:pt>
                <c:pt idx="162">
                  <c:v>2202</c:v>
                </c:pt>
                <c:pt idx="163">
                  <c:v>1508</c:v>
                </c:pt>
                <c:pt idx="164">
                  <c:v>1925</c:v>
                </c:pt>
                <c:pt idx="165">
                  <c:v>1954</c:v>
                </c:pt>
                <c:pt idx="166">
                  <c:v>1820</c:v>
                </c:pt>
                <c:pt idx="167">
                  <c:v>1200</c:v>
                </c:pt>
                <c:pt idx="168">
                  <c:v>1148</c:v>
                </c:pt>
                <c:pt idx="169">
                  <c:v>314</c:v>
                </c:pt>
                <c:pt idx="170">
                  <c:v>805</c:v>
                </c:pt>
                <c:pt idx="171">
                  <c:v>1679</c:v>
                </c:pt>
                <c:pt idx="172">
                  <c:v>2010</c:v>
                </c:pt>
                <c:pt idx="173">
                  <c:v>1243</c:v>
                </c:pt>
                <c:pt idx="174">
                  <c:v>1577</c:v>
                </c:pt>
                <c:pt idx="175">
                  <c:v>1124</c:v>
                </c:pt>
                <c:pt idx="176">
                  <c:v>1220</c:v>
                </c:pt>
                <c:pt idx="177">
                  <c:v>1302</c:v>
                </c:pt>
                <c:pt idx="178">
                  <c:v>1220</c:v>
                </c:pt>
                <c:pt idx="179">
                  <c:v>1230</c:v>
                </c:pt>
                <c:pt idx="180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90-4B31-950D-A90B7460C89C}"/>
            </c:ext>
          </c:extLst>
        </c:ser>
        <c:ser>
          <c:idx val="1"/>
          <c:order val="1"/>
          <c:tx>
            <c:strRef>
              <c:f>'Call Volume Forecast'!$D$3</c:f>
              <c:strCache>
                <c:ptCount val="1"/>
                <c:pt idx="0">
                  <c:v>Forecasted Incoming Call Volume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multiLvlStrRef>
              <c:f>'Call Volume Forecast'!$A$4:$B$273</c:f>
              <c:multiLvlStrCache>
                <c:ptCount val="26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1</c:v>
                  </c:pt>
                  <c:pt idx="54">
                    <c:v>2</c:v>
                  </c:pt>
                  <c:pt idx="55">
                    <c:v>3</c:v>
                  </c:pt>
                  <c:pt idx="56">
                    <c:v>4</c:v>
                  </c:pt>
                  <c:pt idx="57">
                    <c:v>5</c:v>
                  </c:pt>
                  <c:pt idx="58">
                    <c:v>6</c:v>
                  </c:pt>
                  <c:pt idx="59">
                    <c:v>7</c:v>
                  </c:pt>
                  <c:pt idx="60">
                    <c:v>8</c:v>
                  </c:pt>
                  <c:pt idx="61">
                    <c:v>9</c:v>
                  </c:pt>
                  <c:pt idx="62">
                    <c:v>10</c:v>
                  </c:pt>
                  <c:pt idx="63">
                    <c:v>11</c:v>
                  </c:pt>
                  <c:pt idx="64">
                    <c:v>12</c:v>
                  </c:pt>
                  <c:pt idx="65">
                    <c:v>13</c:v>
                  </c:pt>
                  <c:pt idx="66">
                    <c:v>14</c:v>
                  </c:pt>
                  <c:pt idx="67">
                    <c:v>15</c:v>
                  </c:pt>
                  <c:pt idx="68">
                    <c:v>16</c:v>
                  </c:pt>
                  <c:pt idx="69">
                    <c:v>17</c:v>
                  </c:pt>
                  <c:pt idx="70">
                    <c:v>18</c:v>
                  </c:pt>
                  <c:pt idx="71">
                    <c:v>19</c:v>
                  </c:pt>
                  <c:pt idx="72">
                    <c:v>20</c:v>
                  </c:pt>
                  <c:pt idx="73">
                    <c:v>21</c:v>
                  </c:pt>
                  <c:pt idx="74">
                    <c:v>22</c:v>
                  </c:pt>
                  <c:pt idx="75">
                    <c:v>23</c:v>
                  </c:pt>
                  <c:pt idx="76">
                    <c:v>24</c:v>
                  </c:pt>
                  <c:pt idx="77">
                    <c:v>25</c:v>
                  </c:pt>
                  <c:pt idx="78">
                    <c:v>26</c:v>
                  </c:pt>
                  <c:pt idx="79">
                    <c:v>27</c:v>
                  </c:pt>
                  <c:pt idx="80">
                    <c:v>28</c:v>
                  </c:pt>
                  <c:pt idx="81">
                    <c:v>29</c:v>
                  </c:pt>
                  <c:pt idx="82">
                    <c:v>30</c:v>
                  </c:pt>
                  <c:pt idx="83">
                    <c:v>31</c:v>
                  </c:pt>
                  <c:pt idx="84">
                    <c:v>32</c:v>
                  </c:pt>
                  <c:pt idx="85">
                    <c:v>33</c:v>
                  </c:pt>
                  <c:pt idx="86">
                    <c:v>34</c:v>
                  </c:pt>
                  <c:pt idx="87">
                    <c:v>35</c:v>
                  </c:pt>
                  <c:pt idx="88">
                    <c:v>36</c:v>
                  </c:pt>
                  <c:pt idx="89">
                    <c:v>37</c:v>
                  </c:pt>
                  <c:pt idx="90">
                    <c:v>38</c:v>
                  </c:pt>
                  <c:pt idx="91">
                    <c:v>39</c:v>
                  </c:pt>
                  <c:pt idx="92">
                    <c:v>40</c:v>
                  </c:pt>
                  <c:pt idx="93">
                    <c:v>41</c:v>
                  </c:pt>
                  <c:pt idx="94">
                    <c:v>42</c:v>
                  </c:pt>
                  <c:pt idx="95">
                    <c:v>43</c:v>
                  </c:pt>
                  <c:pt idx="96">
                    <c:v>44</c:v>
                  </c:pt>
                  <c:pt idx="97">
                    <c:v>45</c:v>
                  </c:pt>
                  <c:pt idx="98">
                    <c:v>46</c:v>
                  </c:pt>
                  <c:pt idx="99">
                    <c:v>47</c:v>
                  </c:pt>
                  <c:pt idx="100">
                    <c:v>48</c:v>
                  </c:pt>
                  <c:pt idx="101">
                    <c:v>49</c:v>
                  </c:pt>
                  <c:pt idx="102">
                    <c:v>50</c:v>
                  </c:pt>
                  <c:pt idx="103">
                    <c:v>51</c:v>
                  </c:pt>
                  <c:pt idx="104">
                    <c:v>52</c:v>
                  </c:pt>
                  <c:pt idx="105">
                    <c:v>53</c:v>
                  </c:pt>
                  <c:pt idx="106">
                    <c:v>1</c:v>
                  </c:pt>
                  <c:pt idx="107">
                    <c:v>2</c:v>
                  </c:pt>
                  <c:pt idx="108">
                    <c:v>3</c:v>
                  </c:pt>
                  <c:pt idx="109">
                    <c:v>4</c:v>
                  </c:pt>
                  <c:pt idx="110">
                    <c:v>5</c:v>
                  </c:pt>
                  <c:pt idx="111">
                    <c:v>6</c:v>
                  </c:pt>
                  <c:pt idx="112">
                    <c:v>7</c:v>
                  </c:pt>
                  <c:pt idx="113">
                    <c:v>8</c:v>
                  </c:pt>
                  <c:pt idx="114">
                    <c:v>9</c:v>
                  </c:pt>
                  <c:pt idx="115">
                    <c:v>10</c:v>
                  </c:pt>
                  <c:pt idx="116">
                    <c:v>11</c:v>
                  </c:pt>
                  <c:pt idx="117">
                    <c:v>12</c:v>
                  </c:pt>
                  <c:pt idx="118">
                    <c:v>13</c:v>
                  </c:pt>
                  <c:pt idx="119">
                    <c:v>14</c:v>
                  </c:pt>
                  <c:pt idx="120">
                    <c:v>15</c:v>
                  </c:pt>
                  <c:pt idx="121">
                    <c:v>16</c:v>
                  </c:pt>
                  <c:pt idx="122">
                    <c:v>18</c:v>
                  </c:pt>
                  <c:pt idx="123">
                    <c:v>19</c:v>
                  </c:pt>
                  <c:pt idx="124">
                    <c:v>20</c:v>
                  </c:pt>
                  <c:pt idx="125">
                    <c:v>21</c:v>
                  </c:pt>
                  <c:pt idx="126">
                    <c:v>22</c:v>
                  </c:pt>
                  <c:pt idx="127">
                    <c:v>23</c:v>
                  </c:pt>
                  <c:pt idx="128">
                    <c:v>24</c:v>
                  </c:pt>
                  <c:pt idx="129">
                    <c:v>25</c:v>
                  </c:pt>
                  <c:pt idx="130">
                    <c:v>26</c:v>
                  </c:pt>
                  <c:pt idx="131">
                    <c:v>27</c:v>
                  </c:pt>
                  <c:pt idx="132">
                    <c:v>28</c:v>
                  </c:pt>
                  <c:pt idx="133">
                    <c:v>29</c:v>
                  </c:pt>
                  <c:pt idx="134">
                    <c:v>30</c:v>
                  </c:pt>
                  <c:pt idx="135">
                    <c:v>31</c:v>
                  </c:pt>
                  <c:pt idx="136">
                    <c:v>32</c:v>
                  </c:pt>
                  <c:pt idx="137">
                    <c:v>33</c:v>
                  </c:pt>
                  <c:pt idx="138">
                    <c:v>34</c:v>
                  </c:pt>
                  <c:pt idx="139">
                    <c:v>35</c:v>
                  </c:pt>
                  <c:pt idx="140">
                    <c:v>36</c:v>
                  </c:pt>
                  <c:pt idx="141">
                    <c:v>37</c:v>
                  </c:pt>
                  <c:pt idx="142">
                    <c:v>38</c:v>
                  </c:pt>
                  <c:pt idx="143">
                    <c:v>39</c:v>
                  </c:pt>
                  <c:pt idx="144">
                    <c:v>40</c:v>
                  </c:pt>
                  <c:pt idx="145">
                    <c:v>41</c:v>
                  </c:pt>
                  <c:pt idx="146">
                    <c:v>42</c:v>
                  </c:pt>
                  <c:pt idx="147">
                    <c:v>43</c:v>
                  </c:pt>
                  <c:pt idx="148">
                    <c:v>44</c:v>
                  </c:pt>
                  <c:pt idx="149">
                    <c:v>45</c:v>
                  </c:pt>
                  <c:pt idx="150">
                    <c:v>46</c:v>
                  </c:pt>
                  <c:pt idx="151">
                    <c:v>47</c:v>
                  </c:pt>
                  <c:pt idx="152">
                    <c:v>48</c:v>
                  </c:pt>
                  <c:pt idx="153">
                    <c:v>49</c:v>
                  </c:pt>
                  <c:pt idx="154">
                    <c:v>50</c:v>
                  </c:pt>
                  <c:pt idx="155">
                    <c:v>51</c:v>
                  </c:pt>
                  <c:pt idx="156">
                    <c:v>52</c:v>
                  </c:pt>
                  <c:pt idx="157">
                    <c:v>53</c:v>
                  </c:pt>
                  <c:pt idx="158">
                    <c:v>1</c:v>
                  </c:pt>
                  <c:pt idx="159">
                    <c:v>2</c:v>
                  </c:pt>
                  <c:pt idx="160">
                    <c:v>3</c:v>
                  </c:pt>
                  <c:pt idx="161">
                    <c:v>4</c:v>
                  </c:pt>
                  <c:pt idx="162">
                    <c:v>5</c:v>
                  </c:pt>
                  <c:pt idx="163">
                    <c:v>6</c:v>
                  </c:pt>
                  <c:pt idx="164">
                    <c:v>7</c:v>
                  </c:pt>
                  <c:pt idx="165">
                    <c:v>8</c:v>
                  </c:pt>
                  <c:pt idx="166">
                    <c:v>9</c:v>
                  </c:pt>
                  <c:pt idx="167">
                    <c:v>10</c:v>
                  </c:pt>
                  <c:pt idx="168">
                    <c:v>11</c:v>
                  </c:pt>
                  <c:pt idx="169">
                    <c:v>12</c:v>
                  </c:pt>
                  <c:pt idx="170">
                    <c:v>13</c:v>
                  </c:pt>
                  <c:pt idx="171">
                    <c:v>14</c:v>
                  </c:pt>
                  <c:pt idx="172">
                    <c:v>15</c:v>
                  </c:pt>
                  <c:pt idx="173">
                    <c:v>16</c:v>
                  </c:pt>
                  <c:pt idx="174">
                    <c:v>17</c:v>
                  </c:pt>
                  <c:pt idx="175">
                    <c:v>18</c:v>
                  </c:pt>
                  <c:pt idx="176">
                    <c:v>19</c:v>
                  </c:pt>
                  <c:pt idx="177">
                    <c:v>20</c:v>
                  </c:pt>
                  <c:pt idx="178">
                    <c:v>21</c:v>
                  </c:pt>
                  <c:pt idx="179">
                    <c:v>22</c:v>
                  </c:pt>
                  <c:pt idx="180">
                    <c:v>23</c:v>
                  </c:pt>
                  <c:pt idx="181">
                    <c:v>24</c:v>
                  </c:pt>
                  <c:pt idx="182">
                    <c:v>25</c:v>
                  </c:pt>
                  <c:pt idx="183">
                    <c:v>26</c:v>
                  </c:pt>
                  <c:pt idx="184">
                    <c:v>27</c:v>
                  </c:pt>
                  <c:pt idx="185">
                    <c:v>28</c:v>
                  </c:pt>
                  <c:pt idx="186">
                    <c:v>29</c:v>
                  </c:pt>
                  <c:pt idx="187">
                    <c:v>30</c:v>
                  </c:pt>
                  <c:pt idx="188">
                    <c:v>31</c:v>
                  </c:pt>
                  <c:pt idx="189">
                    <c:v>32</c:v>
                  </c:pt>
                  <c:pt idx="190">
                    <c:v>33</c:v>
                  </c:pt>
                  <c:pt idx="191">
                    <c:v>34</c:v>
                  </c:pt>
                  <c:pt idx="192">
                    <c:v>35</c:v>
                  </c:pt>
                  <c:pt idx="193">
                    <c:v>36</c:v>
                  </c:pt>
                  <c:pt idx="194">
                    <c:v>37</c:v>
                  </c:pt>
                  <c:pt idx="195">
                    <c:v>38</c:v>
                  </c:pt>
                  <c:pt idx="196">
                    <c:v>39</c:v>
                  </c:pt>
                  <c:pt idx="197">
                    <c:v>40</c:v>
                  </c:pt>
                  <c:pt idx="198">
                    <c:v>41</c:v>
                  </c:pt>
                  <c:pt idx="199">
                    <c:v>42</c:v>
                  </c:pt>
                  <c:pt idx="200">
                    <c:v>43</c:v>
                  </c:pt>
                  <c:pt idx="201">
                    <c:v>44</c:v>
                  </c:pt>
                  <c:pt idx="202">
                    <c:v>45</c:v>
                  </c:pt>
                  <c:pt idx="203">
                    <c:v>46</c:v>
                  </c:pt>
                  <c:pt idx="204">
                    <c:v>47</c:v>
                  </c:pt>
                  <c:pt idx="205">
                    <c:v>48</c:v>
                  </c:pt>
                  <c:pt idx="206">
                    <c:v>49</c:v>
                  </c:pt>
                  <c:pt idx="207">
                    <c:v>50</c:v>
                  </c:pt>
                  <c:pt idx="208">
                    <c:v>51</c:v>
                  </c:pt>
                  <c:pt idx="209">
                    <c:v>52</c:v>
                  </c:pt>
                  <c:pt idx="210">
                    <c:v>53</c:v>
                  </c:pt>
                  <c:pt idx="211">
                    <c:v>1</c:v>
                  </c:pt>
                  <c:pt idx="212">
                    <c:v>2</c:v>
                  </c:pt>
                  <c:pt idx="213">
                    <c:v>3</c:v>
                  </c:pt>
                  <c:pt idx="214">
                    <c:v>4</c:v>
                  </c:pt>
                  <c:pt idx="215">
                    <c:v>5</c:v>
                  </c:pt>
                  <c:pt idx="216">
                    <c:v>6</c:v>
                  </c:pt>
                  <c:pt idx="217">
                    <c:v>7</c:v>
                  </c:pt>
                  <c:pt idx="218">
                    <c:v>8</c:v>
                  </c:pt>
                  <c:pt idx="219">
                    <c:v>9</c:v>
                  </c:pt>
                  <c:pt idx="220">
                    <c:v>10</c:v>
                  </c:pt>
                  <c:pt idx="221">
                    <c:v>11</c:v>
                  </c:pt>
                  <c:pt idx="222">
                    <c:v>12</c:v>
                  </c:pt>
                  <c:pt idx="223">
                    <c:v>13</c:v>
                  </c:pt>
                  <c:pt idx="224">
                    <c:v>14</c:v>
                  </c:pt>
                  <c:pt idx="225">
                    <c:v>15</c:v>
                  </c:pt>
                  <c:pt idx="226">
                    <c:v>16</c:v>
                  </c:pt>
                  <c:pt idx="227">
                    <c:v>17</c:v>
                  </c:pt>
                  <c:pt idx="228">
                    <c:v>18</c:v>
                  </c:pt>
                  <c:pt idx="229">
                    <c:v>19</c:v>
                  </c:pt>
                  <c:pt idx="230">
                    <c:v>20</c:v>
                  </c:pt>
                  <c:pt idx="231">
                    <c:v>21</c:v>
                  </c:pt>
                  <c:pt idx="232">
                    <c:v>22</c:v>
                  </c:pt>
                  <c:pt idx="233">
                    <c:v>23</c:v>
                  </c:pt>
                  <c:pt idx="234">
                    <c:v>24</c:v>
                  </c:pt>
                  <c:pt idx="235">
                    <c:v>25</c:v>
                  </c:pt>
                  <c:pt idx="236">
                    <c:v>26</c:v>
                  </c:pt>
                  <c:pt idx="237">
                    <c:v>27</c:v>
                  </c:pt>
                  <c:pt idx="238">
                    <c:v>28</c:v>
                  </c:pt>
                  <c:pt idx="239">
                    <c:v>29</c:v>
                  </c:pt>
                  <c:pt idx="240">
                    <c:v>30</c:v>
                  </c:pt>
                  <c:pt idx="241">
                    <c:v>31</c:v>
                  </c:pt>
                  <c:pt idx="242">
                    <c:v>32</c:v>
                  </c:pt>
                  <c:pt idx="243">
                    <c:v>33</c:v>
                  </c:pt>
                  <c:pt idx="244">
                    <c:v>34</c:v>
                  </c:pt>
                  <c:pt idx="245">
                    <c:v>35</c:v>
                  </c:pt>
                  <c:pt idx="246">
                    <c:v>36</c:v>
                  </c:pt>
                  <c:pt idx="247">
                    <c:v>37</c:v>
                  </c:pt>
                  <c:pt idx="248">
                    <c:v>38</c:v>
                  </c:pt>
                  <c:pt idx="249">
                    <c:v>39</c:v>
                  </c:pt>
                  <c:pt idx="250">
                    <c:v>40</c:v>
                  </c:pt>
                  <c:pt idx="251">
                    <c:v>41</c:v>
                  </c:pt>
                  <c:pt idx="252">
                    <c:v>42</c:v>
                  </c:pt>
                  <c:pt idx="253">
                    <c:v>43</c:v>
                  </c:pt>
                  <c:pt idx="254">
                    <c:v>44</c:v>
                  </c:pt>
                  <c:pt idx="255">
                    <c:v>45</c:v>
                  </c:pt>
                  <c:pt idx="256">
                    <c:v>46</c:v>
                  </c:pt>
                  <c:pt idx="257">
                    <c:v>47</c:v>
                  </c:pt>
                  <c:pt idx="258">
                    <c:v>48</c:v>
                  </c:pt>
                  <c:pt idx="259">
                    <c:v>49</c:v>
                  </c:pt>
                  <c:pt idx="260">
                    <c:v>50</c:v>
                  </c:pt>
                  <c:pt idx="261">
                    <c:v>51</c:v>
                  </c:pt>
                  <c:pt idx="262">
                    <c:v>52</c:v>
                  </c:pt>
                  <c:pt idx="263">
                    <c:v>53</c:v>
                  </c:pt>
                </c:lvl>
                <c:lvl>
                  <c:pt idx="0">
                    <c:v>2020</c:v>
                  </c:pt>
                  <c:pt idx="53">
                    <c:v>2021</c:v>
                  </c:pt>
                  <c:pt idx="106">
                    <c:v>2022</c:v>
                  </c:pt>
                  <c:pt idx="158">
                    <c:v>2023</c:v>
                  </c:pt>
                  <c:pt idx="211">
                    <c:v>2024</c:v>
                  </c:pt>
                </c:lvl>
              </c:multiLvlStrCache>
            </c:multiLvlStrRef>
          </c:cat>
          <c:val>
            <c:numRef>
              <c:f>'Call Volume Forecast'!$D$4:$D$273</c:f>
              <c:numCache>
                <c:formatCode>General</c:formatCode>
                <c:ptCount val="264"/>
                <c:pt idx="158">
                  <c:v>1348.4556520985091</c:v>
                </c:pt>
                <c:pt idx="159">
                  <c:v>1350.1333348013013</c:v>
                </c:pt>
                <c:pt idx="160">
                  <c:v>1334.2600456776488</c:v>
                </c:pt>
                <c:pt idx="161">
                  <c:v>1308.8676563161787</c:v>
                </c:pt>
                <c:pt idx="162">
                  <c:v>1317.5298763175247</c:v>
                </c:pt>
                <c:pt idx="163">
                  <c:v>1397.5916626169189</c:v>
                </c:pt>
                <c:pt idx="164">
                  <c:v>1525.5520301242148</c:v>
                </c:pt>
                <c:pt idx="165">
                  <c:v>1614.6559729949158</c:v>
                </c:pt>
                <c:pt idx="166">
                  <c:v>1582.572567778441</c:v>
                </c:pt>
                <c:pt idx="167">
                  <c:v>1430.2434437093111</c:v>
                </c:pt>
                <c:pt idx="168">
                  <c:v>1251.8095321272681</c:v>
                </c:pt>
                <c:pt idx="169">
                  <c:v>1159.8084925556125</c:v>
                </c:pt>
                <c:pt idx="170">
                  <c:v>1194.9081957069109</c:v>
                </c:pt>
                <c:pt idx="171">
                  <c:v>1304.3676475807324</c:v>
                </c:pt>
                <c:pt idx="172">
                  <c:v>1402.2706847407294</c:v>
                </c:pt>
                <c:pt idx="173">
                  <c:v>1444.6637634750994</c:v>
                </c:pt>
                <c:pt idx="174">
                  <c:v>1447.8783601274349</c:v>
                </c:pt>
                <c:pt idx="175">
                  <c:v>1446.7113841675143</c:v>
                </c:pt>
                <c:pt idx="176">
                  <c:v>1450.3912095864441</c:v>
                </c:pt>
                <c:pt idx="177">
                  <c:v>1443.8910250921097</c:v>
                </c:pt>
                <c:pt idx="178">
                  <c:v>1421.6464680272445</c:v>
                </c:pt>
                <c:pt idx="179">
                  <c:v>1404.9389627737798</c:v>
                </c:pt>
                <c:pt idx="180">
                  <c:v>1420.8166276271784</c:v>
                </c:pt>
                <c:pt idx="181">
                  <c:v>1470.5036030070235</c:v>
                </c:pt>
                <c:pt idx="182">
                  <c:v>1526.5242933396323</c:v>
                </c:pt>
                <c:pt idx="183">
                  <c:v>1560.4600360828633</c:v>
                </c:pt>
                <c:pt idx="184">
                  <c:v>1566.8438083174392</c:v>
                </c:pt>
                <c:pt idx="185">
                  <c:v>1557.1948305868302</c:v>
                </c:pt>
                <c:pt idx="186">
                  <c:v>1537.2937528706907</c:v>
                </c:pt>
                <c:pt idx="187">
                  <c:v>1499.8848950653696</c:v>
                </c:pt>
                <c:pt idx="188">
                  <c:v>1441.8357389501634</c:v>
                </c:pt>
                <c:pt idx="189">
                  <c:v>1381.0651870407273</c:v>
                </c:pt>
                <c:pt idx="190">
                  <c:v>1347.5506124358035</c:v>
                </c:pt>
                <c:pt idx="191">
                  <c:v>1355.2060795419495</c:v>
                </c:pt>
                <c:pt idx="192">
                  <c:v>1386.5980862133911</c:v>
                </c:pt>
                <c:pt idx="193">
                  <c:v>1409.5024742331468</c:v>
                </c:pt>
                <c:pt idx="194">
                  <c:v>1408.9080905857036</c:v>
                </c:pt>
                <c:pt idx="195">
                  <c:v>1401.3309093346591</c:v>
                </c:pt>
                <c:pt idx="196">
                  <c:v>1417.5656440321334</c:v>
                </c:pt>
                <c:pt idx="197">
                  <c:v>1471.8091833301887</c:v>
                </c:pt>
                <c:pt idx="198">
                  <c:v>1545.9691599399139</c:v>
                </c:pt>
                <c:pt idx="199">
                  <c:v>1601.2733678040256</c:v>
                </c:pt>
                <c:pt idx="200">
                  <c:v>1605.9633547598555</c:v>
                </c:pt>
                <c:pt idx="201">
                  <c:v>1558.3303224664251</c:v>
                </c:pt>
                <c:pt idx="202">
                  <c:v>1490.2347367051425</c:v>
                </c:pt>
                <c:pt idx="203">
                  <c:v>1448.4705856601122</c:v>
                </c:pt>
                <c:pt idx="204">
                  <c:v>1464.2288446476232</c:v>
                </c:pt>
                <c:pt idx="205">
                  <c:v>1530.962586276311</c:v>
                </c:pt>
                <c:pt idx="206">
                  <c:v>1609.4368429810502</c:v>
                </c:pt>
                <c:pt idx="207">
                  <c:v>1659.1629591154121</c:v>
                </c:pt>
                <c:pt idx="208">
                  <c:v>1669.9617148818534</c:v>
                </c:pt>
                <c:pt idx="209">
                  <c:v>1663.3943063998045</c:v>
                </c:pt>
                <c:pt idx="210">
                  <c:v>175.58927037432682</c:v>
                </c:pt>
                <c:pt idx="211">
                  <c:v>1487.196174808332</c:v>
                </c:pt>
                <c:pt idx="212">
                  <c:v>1665.8566544742841</c:v>
                </c:pt>
                <c:pt idx="213">
                  <c:v>1653.6960801398295</c:v>
                </c:pt>
                <c:pt idx="214">
                  <c:v>1627.5485783503545</c:v>
                </c:pt>
                <c:pt idx="215">
                  <c:v>1626.3831826284263</c:v>
                </c:pt>
                <c:pt idx="216">
                  <c:v>1693.1895252719644</c:v>
                </c:pt>
                <c:pt idx="217">
                  <c:v>1817.6995151567085</c:v>
                </c:pt>
                <c:pt idx="218">
                  <c:v>1921.123037141012</c:v>
                </c:pt>
                <c:pt idx="219">
                  <c:v>1913.6957674116452</c:v>
                </c:pt>
                <c:pt idx="220">
                  <c:v>1778.0196051865721</c:v>
                </c:pt>
                <c:pt idx="221">
                  <c:v>1595.1588213270547</c:v>
                </c:pt>
                <c:pt idx="222">
                  <c:v>1481.8381371721489</c:v>
                </c:pt>
                <c:pt idx="223">
                  <c:v>1495.8516628430821</c:v>
                </c:pt>
                <c:pt idx="224">
                  <c:v>1598.5231508806244</c:v>
                </c:pt>
                <c:pt idx="225">
                  <c:v>1703.6026090481816</c:v>
                </c:pt>
                <c:pt idx="226">
                  <c:v>1756.1276179501394</c:v>
                </c:pt>
                <c:pt idx="227">
                  <c:v>1763.5655017922088</c:v>
                </c:pt>
                <c:pt idx="228">
                  <c:v>1761.479821220544</c:v>
                </c:pt>
                <c:pt idx="229">
                  <c:v>1765.0786539305145</c:v>
                </c:pt>
                <c:pt idx="230">
                  <c:v>1761.5233131527552</c:v>
                </c:pt>
                <c:pt idx="231">
                  <c:v>1741.2231563280384</c:v>
                </c:pt>
                <c:pt idx="232">
                  <c:v>1721.2272737344131</c:v>
                </c:pt>
                <c:pt idx="233">
                  <c:v>1730.1824904414623</c:v>
                </c:pt>
                <c:pt idx="234">
                  <c:v>1775.2781802855154</c:v>
                </c:pt>
                <c:pt idx="235">
                  <c:v>1832.6710212148714</c:v>
                </c:pt>
                <c:pt idx="236">
                  <c:v>1871.7199528395142</c:v>
                </c:pt>
                <c:pt idx="237">
                  <c:v>1882.3763469071816</c:v>
                </c:pt>
                <c:pt idx="238">
                  <c:v>1874.74413642896</c:v>
                </c:pt>
                <c:pt idx="239">
                  <c:v>1856.9514559004424</c:v>
                </c:pt>
                <c:pt idx="240">
                  <c:v>1823.3358076731129</c:v>
                </c:pt>
                <c:pt idx="241">
                  <c:v>1768.3256352640351</c:v>
                </c:pt>
                <c:pt idx="242">
                  <c:v>1705.8557602030435</c:v>
                </c:pt>
                <c:pt idx="243">
                  <c:v>1665.6262188545529</c:v>
                </c:pt>
                <c:pt idx="244">
                  <c:v>1666.3413916742563</c:v>
                </c:pt>
                <c:pt idx="245">
                  <c:v>1695.8544641204676</c:v>
                </c:pt>
                <c:pt idx="246">
                  <c:v>1722.2390287213416</c:v>
                </c:pt>
                <c:pt idx="247">
                  <c:v>1725.4775448181599</c:v>
                </c:pt>
                <c:pt idx="248">
                  <c:v>1716.8895985916163</c:v>
                </c:pt>
                <c:pt idx="249">
                  <c:v>1726.9956469490357</c:v>
                </c:pt>
                <c:pt idx="250">
                  <c:v>1774.8511198204287</c:v>
                </c:pt>
                <c:pt idx="251">
                  <c:v>1848.0289879080763</c:v>
                </c:pt>
                <c:pt idx="252">
                  <c:v>1909.6138257079863</c:v>
                </c:pt>
                <c:pt idx="253">
                  <c:v>1924.5139930217551</c:v>
                </c:pt>
                <c:pt idx="254">
                  <c:v>1884.724954298425</c:v>
                </c:pt>
                <c:pt idx="255">
                  <c:v>1816.9032018559021</c:v>
                </c:pt>
                <c:pt idx="256">
                  <c:v>1767.2986854989367</c:v>
                </c:pt>
                <c:pt idx="257">
                  <c:v>1772.0570480514095</c:v>
                </c:pt>
                <c:pt idx="258">
                  <c:v>1831.9296282674115</c:v>
                </c:pt>
                <c:pt idx="259">
                  <c:v>1911.7513927839398</c:v>
                </c:pt>
                <c:pt idx="260">
                  <c:v>1968.4766824906555</c:v>
                </c:pt>
                <c:pt idx="261">
                  <c:v>1985.2868374546997</c:v>
                </c:pt>
                <c:pt idx="262">
                  <c:v>1979.6651258716706</c:v>
                </c:pt>
                <c:pt idx="263">
                  <c:v>521.00214617905135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B90-4B31-950D-A90B7460C8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49494792"/>
        <c:axId val="1546265608"/>
      </c:lineChart>
      <c:catAx>
        <c:axId val="9494947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 and Week of the 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6265608"/>
        <c:crosses val="autoZero"/>
        <c:auto val="1"/>
        <c:lblAlgn val="ctr"/>
        <c:lblOffset val="100"/>
        <c:noMultiLvlLbl val="0"/>
      </c:catAx>
      <c:valAx>
        <c:axId val="1546265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Incoming Call Volume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49494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000000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[Prophet_Forecast_Results.xlsx]Headcount Rrequirement!PivotTable2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Weekly Headcount Forecast vs. Actual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rgbClr val="E26B0A"/>
            </a:solidFill>
            <a:prstDash val="solid"/>
            <a:round/>
          </a:ln>
          <a:effectLst/>
        </c:spPr>
        <c:marker>
          <c:symbol val="circle"/>
          <c:size val="5"/>
          <c:spPr>
            <a:solidFill>
              <a:srgbClr val="E26B0A"/>
            </a:solidFill>
            <a:ln w="9525">
              <a:solidFill>
                <a:srgbClr val="E26B0A"/>
              </a:solidFill>
              <a:prstDash val="solid"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rgbClr val="4F81BD"/>
            </a:solidFill>
            <a:prstDash val="solid"/>
            <a:round/>
          </a:ln>
          <a:effectLst/>
        </c:spPr>
        <c:marker>
          <c:symbol val="circle"/>
          <c:size val="5"/>
          <c:spPr>
            <a:solidFill>
              <a:srgbClr val="4F81BD"/>
            </a:solidFill>
            <a:ln w="9525">
              <a:solidFill>
                <a:srgbClr val="4F81BD"/>
              </a:solidFill>
              <a:prstDash val="solid"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rgbClr val="4F81BD"/>
            </a:solidFill>
            <a:prstDash val="solid"/>
            <a:round/>
          </a:ln>
          <a:effectLst/>
        </c:spPr>
        <c:marker>
          <c:symbol val="circle"/>
          <c:size val="5"/>
          <c:spPr>
            <a:solidFill>
              <a:srgbClr val="4F81BD"/>
            </a:solidFill>
            <a:ln w="9525">
              <a:solidFill>
                <a:srgbClr val="4F81BD"/>
              </a:solidFill>
              <a:prstDash val="solid"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rgbClr val="E26B0A"/>
            </a:solidFill>
            <a:prstDash val="solid"/>
            <a:round/>
          </a:ln>
          <a:effectLst/>
        </c:spPr>
        <c:marker>
          <c:symbol val="circle"/>
          <c:size val="5"/>
          <c:spPr>
            <a:solidFill>
              <a:srgbClr val="E26B0A"/>
            </a:solidFill>
            <a:ln w="9525">
              <a:solidFill>
                <a:srgbClr val="E26B0A"/>
              </a:solidFill>
              <a:prstDash val="solid"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rgbClr val="4F81BD"/>
            </a:solidFill>
            <a:prstDash val="solid"/>
            <a:round/>
          </a:ln>
          <a:effectLst/>
        </c:spPr>
        <c:marker>
          <c:symbol val="circle"/>
          <c:size val="5"/>
          <c:spPr>
            <a:solidFill>
              <a:srgbClr val="4F81BD"/>
            </a:solidFill>
            <a:ln w="9525">
              <a:solidFill>
                <a:srgbClr val="4F81BD"/>
              </a:solidFill>
              <a:prstDash val="solid"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rgbClr val="E26B0A"/>
            </a:solidFill>
            <a:prstDash val="solid"/>
            <a:round/>
          </a:ln>
          <a:effectLst/>
        </c:spPr>
        <c:marker>
          <c:symbol val="circle"/>
          <c:size val="5"/>
          <c:spPr>
            <a:solidFill>
              <a:srgbClr val="E26B0A"/>
            </a:solidFill>
            <a:ln w="9525">
              <a:solidFill>
                <a:srgbClr val="E26B0A"/>
              </a:solidFill>
              <a:prstDash val="solid"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'Headcount Rrequirement'!$C$3</c:f>
              <c:strCache>
                <c:ptCount val="1"/>
                <c:pt idx="0">
                  <c:v>Weekly Required Headcount Bin (Actual)</c:v>
                </c:pt>
              </c:strCache>
            </c:strRef>
          </c:tx>
          <c:spPr>
            <a:ln w="28575" cap="rnd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4F81BD"/>
              </a:solidFill>
              <a:ln w="9525">
                <a:solidFill>
                  <a:srgbClr val="4F81BD"/>
                </a:solidFill>
                <a:prstDash val="solid"/>
              </a:ln>
              <a:effectLst/>
            </c:spPr>
          </c:marker>
          <c:cat>
            <c:multiLvlStrRef>
              <c:f>'Headcount Rrequirement'!$A$4:$B$273</c:f>
              <c:multiLvlStrCache>
                <c:ptCount val="26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1</c:v>
                  </c:pt>
                  <c:pt idx="54">
                    <c:v>2</c:v>
                  </c:pt>
                  <c:pt idx="55">
                    <c:v>3</c:v>
                  </c:pt>
                  <c:pt idx="56">
                    <c:v>4</c:v>
                  </c:pt>
                  <c:pt idx="57">
                    <c:v>5</c:v>
                  </c:pt>
                  <c:pt idx="58">
                    <c:v>6</c:v>
                  </c:pt>
                  <c:pt idx="59">
                    <c:v>7</c:v>
                  </c:pt>
                  <c:pt idx="60">
                    <c:v>8</c:v>
                  </c:pt>
                  <c:pt idx="61">
                    <c:v>9</c:v>
                  </c:pt>
                  <c:pt idx="62">
                    <c:v>10</c:v>
                  </c:pt>
                  <c:pt idx="63">
                    <c:v>11</c:v>
                  </c:pt>
                  <c:pt idx="64">
                    <c:v>12</c:v>
                  </c:pt>
                  <c:pt idx="65">
                    <c:v>13</c:v>
                  </c:pt>
                  <c:pt idx="66">
                    <c:v>14</c:v>
                  </c:pt>
                  <c:pt idx="67">
                    <c:v>15</c:v>
                  </c:pt>
                  <c:pt idx="68">
                    <c:v>16</c:v>
                  </c:pt>
                  <c:pt idx="69">
                    <c:v>17</c:v>
                  </c:pt>
                  <c:pt idx="70">
                    <c:v>18</c:v>
                  </c:pt>
                  <c:pt idx="71">
                    <c:v>19</c:v>
                  </c:pt>
                  <c:pt idx="72">
                    <c:v>20</c:v>
                  </c:pt>
                  <c:pt idx="73">
                    <c:v>21</c:v>
                  </c:pt>
                  <c:pt idx="74">
                    <c:v>22</c:v>
                  </c:pt>
                  <c:pt idx="75">
                    <c:v>23</c:v>
                  </c:pt>
                  <c:pt idx="76">
                    <c:v>24</c:v>
                  </c:pt>
                  <c:pt idx="77">
                    <c:v>25</c:v>
                  </c:pt>
                  <c:pt idx="78">
                    <c:v>26</c:v>
                  </c:pt>
                  <c:pt idx="79">
                    <c:v>27</c:v>
                  </c:pt>
                  <c:pt idx="80">
                    <c:v>28</c:v>
                  </c:pt>
                  <c:pt idx="81">
                    <c:v>29</c:v>
                  </c:pt>
                  <c:pt idx="82">
                    <c:v>30</c:v>
                  </c:pt>
                  <c:pt idx="83">
                    <c:v>31</c:v>
                  </c:pt>
                  <c:pt idx="84">
                    <c:v>32</c:v>
                  </c:pt>
                  <c:pt idx="85">
                    <c:v>33</c:v>
                  </c:pt>
                  <c:pt idx="86">
                    <c:v>34</c:v>
                  </c:pt>
                  <c:pt idx="87">
                    <c:v>35</c:v>
                  </c:pt>
                  <c:pt idx="88">
                    <c:v>36</c:v>
                  </c:pt>
                  <c:pt idx="89">
                    <c:v>37</c:v>
                  </c:pt>
                  <c:pt idx="90">
                    <c:v>38</c:v>
                  </c:pt>
                  <c:pt idx="91">
                    <c:v>39</c:v>
                  </c:pt>
                  <c:pt idx="92">
                    <c:v>40</c:v>
                  </c:pt>
                  <c:pt idx="93">
                    <c:v>41</c:v>
                  </c:pt>
                  <c:pt idx="94">
                    <c:v>42</c:v>
                  </c:pt>
                  <c:pt idx="95">
                    <c:v>43</c:v>
                  </c:pt>
                  <c:pt idx="96">
                    <c:v>44</c:v>
                  </c:pt>
                  <c:pt idx="97">
                    <c:v>45</c:v>
                  </c:pt>
                  <c:pt idx="98">
                    <c:v>46</c:v>
                  </c:pt>
                  <c:pt idx="99">
                    <c:v>47</c:v>
                  </c:pt>
                  <c:pt idx="100">
                    <c:v>48</c:v>
                  </c:pt>
                  <c:pt idx="101">
                    <c:v>49</c:v>
                  </c:pt>
                  <c:pt idx="102">
                    <c:v>50</c:v>
                  </c:pt>
                  <c:pt idx="103">
                    <c:v>51</c:v>
                  </c:pt>
                  <c:pt idx="104">
                    <c:v>52</c:v>
                  </c:pt>
                  <c:pt idx="105">
                    <c:v>53</c:v>
                  </c:pt>
                  <c:pt idx="106">
                    <c:v>1</c:v>
                  </c:pt>
                  <c:pt idx="107">
                    <c:v>2</c:v>
                  </c:pt>
                  <c:pt idx="108">
                    <c:v>3</c:v>
                  </c:pt>
                  <c:pt idx="109">
                    <c:v>4</c:v>
                  </c:pt>
                  <c:pt idx="110">
                    <c:v>5</c:v>
                  </c:pt>
                  <c:pt idx="111">
                    <c:v>6</c:v>
                  </c:pt>
                  <c:pt idx="112">
                    <c:v>7</c:v>
                  </c:pt>
                  <c:pt idx="113">
                    <c:v>8</c:v>
                  </c:pt>
                  <c:pt idx="114">
                    <c:v>9</c:v>
                  </c:pt>
                  <c:pt idx="115">
                    <c:v>10</c:v>
                  </c:pt>
                  <c:pt idx="116">
                    <c:v>11</c:v>
                  </c:pt>
                  <c:pt idx="117">
                    <c:v>12</c:v>
                  </c:pt>
                  <c:pt idx="118">
                    <c:v>13</c:v>
                  </c:pt>
                  <c:pt idx="119">
                    <c:v>14</c:v>
                  </c:pt>
                  <c:pt idx="120">
                    <c:v>15</c:v>
                  </c:pt>
                  <c:pt idx="121">
                    <c:v>16</c:v>
                  </c:pt>
                  <c:pt idx="122">
                    <c:v>18</c:v>
                  </c:pt>
                  <c:pt idx="123">
                    <c:v>19</c:v>
                  </c:pt>
                  <c:pt idx="124">
                    <c:v>20</c:v>
                  </c:pt>
                  <c:pt idx="125">
                    <c:v>21</c:v>
                  </c:pt>
                  <c:pt idx="126">
                    <c:v>22</c:v>
                  </c:pt>
                  <c:pt idx="127">
                    <c:v>23</c:v>
                  </c:pt>
                  <c:pt idx="128">
                    <c:v>24</c:v>
                  </c:pt>
                  <c:pt idx="129">
                    <c:v>25</c:v>
                  </c:pt>
                  <c:pt idx="130">
                    <c:v>26</c:v>
                  </c:pt>
                  <c:pt idx="131">
                    <c:v>27</c:v>
                  </c:pt>
                  <c:pt idx="132">
                    <c:v>28</c:v>
                  </c:pt>
                  <c:pt idx="133">
                    <c:v>29</c:v>
                  </c:pt>
                  <c:pt idx="134">
                    <c:v>30</c:v>
                  </c:pt>
                  <c:pt idx="135">
                    <c:v>31</c:v>
                  </c:pt>
                  <c:pt idx="136">
                    <c:v>32</c:v>
                  </c:pt>
                  <c:pt idx="137">
                    <c:v>33</c:v>
                  </c:pt>
                  <c:pt idx="138">
                    <c:v>34</c:v>
                  </c:pt>
                  <c:pt idx="139">
                    <c:v>35</c:v>
                  </c:pt>
                  <c:pt idx="140">
                    <c:v>36</c:v>
                  </c:pt>
                  <c:pt idx="141">
                    <c:v>37</c:v>
                  </c:pt>
                  <c:pt idx="142">
                    <c:v>38</c:v>
                  </c:pt>
                  <c:pt idx="143">
                    <c:v>39</c:v>
                  </c:pt>
                  <c:pt idx="144">
                    <c:v>40</c:v>
                  </c:pt>
                  <c:pt idx="145">
                    <c:v>41</c:v>
                  </c:pt>
                  <c:pt idx="146">
                    <c:v>42</c:v>
                  </c:pt>
                  <c:pt idx="147">
                    <c:v>43</c:v>
                  </c:pt>
                  <c:pt idx="148">
                    <c:v>44</c:v>
                  </c:pt>
                  <c:pt idx="149">
                    <c:v>45</c:v>
                  </c:pt>
                  <c:pt idx="150">
                    <c:v>46</c:v>
                  </c:pt>
                  <c:pt idx="151">
                    <c:v>47</c:v>
                  </c:pt>
                  <c:pt idx="152">
                    <c:v>48</c:v>
                  </c:pt>
                  <c:pt idx="153">
                    <c:v>49</c:v>
                  </c:pt>
                  <c:pt idx="154">
                    <c:v>50</c:v>
                  </c:pt>
                  <c:pt idx="155">
                    <c:v>51</c:v>
                  </c:pt>
                  <c:pt idx="156">
                    <c:v>52</c:v>
                  </c:pt>
                  <c:pt idx="157">
                    <c:v>53</c:v>
                  </c:pt>
                  <c:pt idx="158">
                    <c:v>1</c:v>
                  </c:pt>
                  <c:pt idx="159">
                    <c:v>2</c:v>
                  </c:pt>
                  <c:pt idx="160">
                    <c:v>3</c:v>
                  </c:pt>
                  <c:pt idx="161">
                    <c:v>4</c:v>
                  </c:pt>
                  <c:pt idx="162">
                    <c:v>5</c:v>
                  </c:pt>
                  <c:pt idx="163">
                    <c:v>6</c:v>
                  </c:pt>
                  <c:pt idx="164">
                    <c:v>7</c:v>
                  </c:pt>
                  <c:pt idx="165">
                    <c:v>8</c:v>
                  </c:pt>
                  <c:pt idx="166">
                    <c:v>9</c:v>
                  </c:pt>
                  <c:pt idx="167">
                    <c:v>10</c:v>
                  </c:pt>
                  <c:pt idx="168">
                    <c:v>11</c:v>
                  </c:pt>
                  <c:pt idx="169">
                    <c:v>12</c:v>
                  </c:pt>
                  <c:pt idx="170">
                    <c:v>13</c:v>
                  </c:pt>
                  <c:pt idx="171">
                    <c:v>14</c:v>
                  </c:pt>
                  <c:pt idx="172">
                    <c:v>15</c:v>
                  </c:pt>
                  <c:pt idx="173">
                    <c:v>16</c:v>
                  </c:pt>
                  <c:pt idx="174">
                    <c:v>17</c:v>
                  </c:pt>
                  <c:pt idx="175">
                    <c:v>18</c:v>
                  </c:pt>
                  <c:pt idx="176">
                    <c:v>19</c:v>
                  </c:pt>
                  <c:pt idx="177">
                    <c:v>20</c:v>
                  </c:pt>
                  <c:pt idx="178">
                    <c:v>21</c:v>
                  </c:pt>
                  <c:pt idx="179">
                    <c:v>22</c:v>
                  </c:pt>
                  <c:pt idx="180">
                    <c:v>23</c:v>
                  </c:pt>
                  <c:pt idx="181">
                    <c:v>24</c:v>
                  </c:pt>
                  <c:pt idx="182">
                    <c:v>25</c:v>
                  </c:pt>
                  <c:pt idx="183">
                    <c:v>26</c:v>
                  </c:pt>
                  <c:pt idx="184">
                    <c:v>27</c:v>
                  </c:pt>
                  <c:pt idx="185">
                    <c:v>28</c:v>
                  </c:pt>
                  <c:pt idx="186">
                    <c:v>29</c:v>
                  </c:pt>
                  <c:pt idx="187">
                    <c:v>30</c:v>
                  </c:pt>
                  <c:pt idx="188">
                    <c:v>31</c:v>
                  </c:pt>
                  <c:pt idx="189">
                    <c:v>32</c:v>
                  </c:pt>
                  <c:pt idx="190">
                    <c:v>33</c:v>
                  </c:pt>
                  <c:pt idx="191">
                    <c:v>34</c:v>
                  </c:pt>
                  <c:pt idx="192">
                    <c:v>35</c:v>
                  </c:pt>
                  <c:pt idx="193">
                    <c:v>36</c:v>
                  </c:pt>
                  <c:pt idx="194">
                    <c:v>37</c:v>
                  </c:pt>
                  <c:pt idx="195">
                    <c:v>38</c:v>
                  </c:pt>
                  <c:pt idx="196">
                    <c:v>39</c:v>
                  </c:pt>
                  <c:pt idx="197">
                    <c:v>40</c:v>
                  </c:pt>
                  <c:pt idx="198">
                    <c:v>41</c:v>
                  </c:pt>
                  <c:pt idx="199">
                    <c:v>42</c:v>
                  </c:pt>
                  <c:pt idx="200">
                    <c:v>43</c:v>
                  </c:pt>
                  <c:pt idx="201">
                    <c:v>44</c:v>
                  </c:pt>
                  <c:pt idx="202">
                    <c:v>45</c:v>
                  </c:pt>
                  <c:pt idx="203">
                    <c:v>46</c:v>
                  </c:pt>
                  <c:pt idx="204">
                    <c:v>47</c:v>
                  </c:pt>
                  <c:pt idx="205">
                    <c:v>48</c:v>
                  </c:pt>
                  <c:pt idx="206">
                    <c:v>49</c:v>
                  </c:pt>
                  <c:pt idx="207">
                    <c:v>50</c:v>
                  </c:pt>
                  <c:pt idx="208">
                    <c:v>51</c:v>
                  </c:pt>
                  <c:pt idx="209">
                    <c:v>52</c:v>
                  </c:pt>
                  <c:pt idx="210">
                    <c:v>53</c:v>
                  </c:pt>
                  <c:pt idx="211">
                    <c:v>1</c:v>
                  </c:pt>
                  <c:pt idx="212">
                    <c:v>2</c:v>
                  </c:pt>
                  <c:pt idx="213">
                    <c:v>3</c:v>
                  </c:pt>
                  <c:pt idx="214">
                    <c:v>4</c:v>
                  </c:pt>
                  <c:pt idx="215">
                    <c:v>5</c:v>
                  </c:pt>
                  <c:pt idx="216">
                    <c:v>6</c:v>
                  </c:pt>
                  <c:pt idx="217">
                    <c:v>7</c:v>
                  </c:pt>
                  <c:pt idx="218">
                    <c:v>8</c:v>
                  </c:pt>
                  <c:pt idx="219">
                    <c:v>9</c:v>
                  </c:pt>
                  <c:pt idx="220">
                    <c:v>10</c:v>
                  </c:pt>
                  <c:pt idx="221">
                    <c:v>11</c:v>
                  </c:pt>
                  <c:pt idx="222">
                    <c:v>12</c:v>
                  </c:pt>
                  <c:pt idx="223">
                    <c:v>13</c:v>
                  </c:pt>
                  <c:pt idx="224">
                    <c:v>14</c:v>
                  </c:pt>
                  <c:pt idx="225">
                    <c:v>15</c:v>
                  </c:pt>
                  <c:pt idx="226">
                    <c:v>16</c:v>
                  </c:pt>
                  <c:pt idx="227">
                    <c:v>17</c:v>
                  </c:pt>
                  <c:pt idx="228">
                    <c:v>18</c:v>
                  </c:pt>
                  <c:pt idx="229">
                    <c:v>19</c:v>
                  </c:pt>
                  <c:pt idx="230">
                    <c:v>20</c:v>
                  </c:pt>
                  <c:pt idx="231">
                    <c:v>21</c:v>
                  </c:pt>
                  <c:pt idx="232">
                    <c:v>22</c:v>
                  </c:pt>
                  <c:pt idx="233">
                    <c:v>23</c:v>
                  </c:pt>
                  <c:pt idx="234">
                    <c:v>24</c:v>
                  </c:pt>
                  <c:pt idx="235">
                    <c:v>25</c:v>
                  </c:pt>
                  <c:pt idx="236">
                    <c:v>26</c:v>
                  </c:pt>
                  <c:pt idx="237">
                    <c:v>27</c:v>
                  </c:pt>
                  <c:pt idx="238">
                    <c:v>28</c:v>
                  </c:pt>
                  <c:pt idx="239">
                    <c:v>29</c:v>
                  </c:pt>
                  <c:pt idx="240">
                    <c:v>30</c:v>
                  </c:pt>
                  <c:pt idx="241">
                    <c:v>31</c:v>
                  </c:pt>
                  <c:pt idx="242">
                    <c:v>32</c:v>
                  </c:pt>
                  <c:pt idx="243">
                    <c:v>33</c:v>
                  </c:pt>
                  <c:pt idx="244">
                    <c:v>34</c:v>
                  </c:pt>
                  <c:pt idx="245">
                    <c:v>35</c:v>
                  </c:pt>
                  <c:pt idx="246">
                    <c:v>36</c:v>
                  </c:pt>
                  <c:pt idx="247">
                    <c:v>37</c:v>
                  </c:pt>
                  <c:pt idx="248">
                    <c:v>38</c:v>
                  </c:pt>
                  <c:pt idx="249">
                    <c:v>39</c:v>
                  </c:pt>
                  <c:pt idx="250">
                    <c:v>40</c:v>
                  </c:pt>
                  <c:pt idx="251">
                    <c:v>41</c:v>
                  </c:pt>
                  <c:pt idx="252">
                    <c:v>42</c:v>
                  </c:pt>
                  <c:pt idx="253">
                    <c:v>43</c:v>
                  </c:pt>
                  <c:pt idx="254">
                    <c:v>44</c:v>
                  </c:pt>
                  <c:pt idx="255">
                    <c:v>45</c:v>
                  </c:pt>
                  <c:pt idx="256">
                    <c:v>46</c:v>
                  </c:pt>
                  <c:pt idx="257">
                    <c:v>47</c:v>
                  </c:pt>
                  <c:pt idx="258">
                    <c:v>48</c:v>
                  </c:pt>
                  <c:pt idx="259">
                    <c:v>49</c:v>
                  </c:pt>
                  <c:pt idx="260">
                    <c:v>50</c:v>
                  </c:pt>
                  <c:pt idx="261">
                    <c:v>51</c:v>
                  </c:pt>
                  <c:pt idx="262">
                    <c:v>52</c:v>
                  </c:pt>
                  <c:pt idx="263">
                    <c:v>53</c:v>
                  </c:pt>
                </c:lvl>
                <c:lvl>
                  <c:pt idx="0">
                    <c:v>2020</c:v>
                  </c:pt>
                  <c:pt idx="53">
                    <c:v>2021</c:v>
                  </c:pt>
                  <c:pt idx="106">
                    <c:v>2022</c:v>
                  </c:pt>
                  <c:pt idx="158">
                    <c:v>2023</c:v>
                  </c:pt>
                  <c:pt idx="211">
                    <c:v>2024</c:v>
                  </c:pt>
                </c:lvl>
              </c:multiLvlStrCache>
            </c:multiLvlStrRef>
          </c:cat>
          <c:val>
            <c:numRef>
              <c:f>'Headcount Rrequirement'!$C$4:$C$273</c:f>
              <c:numCache>
                <c:formatCode>General</c:formatCode>
                <c:ptCount val="264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2</c:v>
                </c:pt>
                <c:pt idx="24">
                  <c:v>2</c:v>
                </c:pt>
                <c:pt idx="25">
                  <c:v>2</c:v>
                </c:pt>
                <c:pt idx="26">
                  <c:v>2</c:v>
                </c:pt>
                <c:pt idx="27">
                  <c:v>2</c:v>
                </c:pt>
                <c:pt idx="28">
                  <c:v>2</c:v>
                </c:pt>
                <c:pt idx="29">
                  <c:v>2</c:v>
                </c:pt>
                <c:pt idx="30">
                  <c:v>2</c:v>
                </c:pt>
                <c:pt idx="31">
                  <c:v>2</c:v>
                </c:pt>
                <c:pt idx="32">
                  <c:v>3</c:v>
                </c:pt>
                <c:pt idx="33">
                  <c:v>2</c:v>
                </c:pt>
                <c:pt idx="34">
                  <c:v>2</c:v>
                </c:pt>
                <c:pt idx="35">
                  <c:v>3</c:v>
                </c:pt>
                <c:pt idx="36">
                  <c:v>2</c:v>
                </c:pt>
                <c:pt idx="37">
                  <c:v>2</c:v>
                </c:pt>
                <c:pt idx="38">
                  <c:v>2</c:v>
                </c:pt>
                <c:pt idx="39">
                  <c:v>2</c:v>
                </c:pt>
                <c:pt idx="40">
                  <c:v>2</c:v>
                </c:pt>
                <c:pt idx="41">
                  <c:v>3</c:v>
                </c:pt>
                <c:pt idx="42">
                  <c:v>2</c:v>
                </c:pt>
                <c:pt idx="43">
                  <c:v>3</c:v>
                </c:pt>
                <c:pt idx="44">
                  <c:v>2</c:v>
                </c:pt>
                <c:pt idx="45">
                  <c:v>2</c:v>
                </c:pt>
                <c:pt idx="46">
                  <c:v>2</c:v>
                </c:pt>
                <c:pt idx="47">
                  <c:v>2</c:v>
                </c:pt>
                <c:pt idx="48">
                  <c:v>2</c:v>
                </c:pt>
                <c:pt idx="49">
                  <c:v>2</c:v>
                </c:pt>
                <c:pt idx="50">
                  <c:v>2</c:v>
                </c:pt>
                <c:pt idx="51">
                  <c:v>4</c:v>
                </c:pt>
                <c:pt idx="52">
                  <c:v>2</c:v>
                </c:pt>
                <c:pt idx="53">
                  <c:v>2</c:v>
                </c:pt>
                <c:pt idx="54">
                  <c:v>2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2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2</c:v>
                </c:pt>
                <c:pt idx="63">
                  <c:v>2</c:v>
                </c:pt>
                <c:pt idx="64">
                  <c:v>2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2</c:v>
                </c:pt>
                <c:pt idx="71">
                  <c:v>2</c:v>
                </c:pt>
                <c:pt idx="72">
                  <c:v>2</c:v>
                </c:pt>
                <c:pt idx="73">
                  <c:v>2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2</c:v>
                </c:pt>
                <c:pt idx="78">
                  <c:v>2</c:v>
                </c:pt>
                <c:pt idx="79">
                  <c:v>3</c:v>
                </c:pt>
                <c:pt idx="80">
                  <c:v>2</c:v>
                </c:pt>
                <c:pt idx="81">
                  <c:v>2</c:v>
                </c:pt>
                <c:pt idx="82">
                  <c:v>2</c:v>
                </c:pt>
                <c:pt idx="83">
                  <c:v>2</c:v>
                </c:pt>
                <c:pt idx="84">
                  <c:v>2</c:v>
                </c:pt>
                <c:pt idx="85">
                  <c:v>2</c:v>
                </c:pt>
                <c:pt idx="86">
                  <c:v>1</c:v>
                </c:pt>
                <c:pt idx="87">
                  <c:v>1</c:v>
                </c:pt>
                <c:pt idx="88">
                  <c:v>2</c:v>
                </c:pt>
                <c:pt idx="89">
                  <c:v>2</c:v>
                </c:pt>
                <c:pt idx="90">
                  <c:v>1</c:v>
                </c:pt>
                <c:pt idx="91">
                  <c:v>2</c:v>
                </c:pt>
                <c:pt idx="92">
                  <c:v>1</c:v>
                </c:pt>
                <c:pt idx="93">
                  <c:v>1</c:v>
                </c:pt>
                <c:pt idx="94">
                  <c:v>2</c:v>
                </c:pt>
                <c:pt idx="95">
                  <c:v>2</c:v>
                </c:pt>
                <c:pt idx="96">
                  <c:v>2</c:v>
                </c:pt>
                <c:pt idx="97">
                  <c:v>2</c:v>
                </c:pt>
                <c:pt idx="98">
                  <c:v>2</c:v>
                </c:pt>
                <c:pt idx="99">
                  <c:v>2</c:v>
                </c:pt>
                <c:pt idx="100">
                  <c:v>1</c:v>
                </c:pt>
                <c:pt idx="101">
                  <c:v>2</c:v>
                </c:pt>
                <c:pt idx="102">
                  <c:v>3</c:v>
                </c:pt>
                <c:pt idx="103">
                  <c:v>3</c:v>
                </c:pt>
                <c:pt idx="104">
                  <c:v>2</c:v>
                </c:pt>
                <c:pt idx="105">
                  <c:v>2</c:v>
                </c:pt>
                <c:pt idx="106">
                  <c:v>2</c:v>
                </c:pt>
                <c:pt idx="107">
                  <c:v>2</c:v>
                </c:pt>
                <c:pt idx="108">
                  <c:v>2</c:v>
                </c:pt>
                <c:pt idx="109">
                  <c:v>2</c:v>
                </c:pt>
                <c:pt idx="110">
                  <c:v>2</c:v>
                </c:pt>
                <c:pt idx="111">
                  <c:v>2</c:v>
                </c:pt>
                <c:pt idx="112">
                  <c:v>2</c:v>
                </c:pt>
                <c:pt idx="113">
                  <c:v>2</c:v>
                </c:pt>
                <c:pt idx="114">
                  <c:v>3</c:v>
                </c:pt>
                <c:pt idx="115">
                  <c:v>3</c:v>
                </c:pt>
                <c:pt idx="116">
                  <c:v>4</c:v>
                </c:pt>
                <c:pt idx="117">
                  <c:v>4</c:v>
                </c:pt>
                <c:pt idx="118">
                  <c:v>4</c:v>
                </c:pt>
                <c:pt idx="119">
                  <c:v>5</c:v>
                </c:pt>
                <c:pt idx="120">
                  <c:v>4</c:v>
                </c:pt>
                <c:pt idx="121">
                  <c:v>3</c:v>
                </c:pt>
                <c:pt idx="122">
                  <c:v>2</c:v>
                </c:pt>
                <c:pt idx="123">
                  <c:v>2</c:v>
                </c:pt>
                <c:pt idx="124">
                  <c:v>2</c:v>
                </c:pt>
                <c:pt idx="125">
                  <c:v>4</c:v>
                </c:pt>
                <c:pt idx="126">
                  <c:v>4</c:v>
                </c:pt>
                <c:pt idx="127">
                  <c:v>7</c:v>
                </c:pt>
                <c:pt idx="128">
                  <c:v>8</c:v>
                </c:pt>
                <c:pt idx="129">
                  <c:v>4</c:v>
                </c:pt>
                <c:pt idx="130">
                  <c:v>4</c:v>
                </c:pt>
                <c:pt idx="131">
                  <c:v>3</c:v>
                </c:pt>
                <c:pt idx="132">
                  <c:v>2</c:v>
                </c:pt>
                <c:pt idx="133">
                  <c:v>5</c:v>
                </c:pt>
                <c:pt idx="134">
                  <c:v>6</c:v>
                </c:pt>
                <c:pt idx="135">
                  <c:v>3</c:v>
                </c:pt>
                <c:pt idx="136">
                  <c:v>2</c:v>
                </c:pt>
                <c:pt idx="137">
                  <c:v>3</c:v>
                </c:pt>
                <c:pt idx="138">
                  <c:v>7</c:v>
                </c:pt>
                <c:pt idx="139">
                  <c:v>4</c:v>
                </c:pt>
                <c:pt idx="140">
                  <c:v>2</c:v>
                </c:pt>
                <c:pt idx="141">
                  <c:v>3</c:v>
                </c:pt>
                <c:pt idx="142">
                  <c:v>2</c:v>
                </c:pt>
                <c:pt idx="143">
                  <c:v>2</c:v>
                </c:pt>
                <c:pt idx="144">
                  <c:v>4</c:v>
                </c:pt>
                <c:pt idx="145">
                  <c:v>2</c:v>
                </c:pt>
                <c:pt idx="146">
                  <c:v>2</c:v>
                </c:pt>
                <c:pt idx="147">
                  <c:v>2</c:v>
                </c:pt>
                <c:pt idx="148">
                  <c:v>2</c:v>
                </c:pt>
                <c:pt idx="149">
                  <c:v>2</c:v>
                </c:pt>
                <c:pt idx="150">
                  <c:v>2</c:v>
                </c:pt>
                <c:pt idx="151">
                  <c:v>2</c:v>
                </c:pt>
                <c:pt idx="152">
                  <c:v>2</c:v>
                </c:pt>
                <c:pt idx="153">
                  <c:v>2</c:v>
                </c:pt>
                <c:pt idx="154">
                  <c:v>3</c:v>
                </c:pt>
                <c:pt idx="155">
                  <c:v>2</c:v>
                </c:pt>
                <c:pt idx="156">
                  <c:v>2</c:v>
                </c:pt>
                <c:pt idx="157">
                  <c:v>2</c:v>
                </c:pt>
                <c:pt idx="158">
                  <c:v>2</c:v>
                </c:pt>
                <c:pt idx="159">
                  <c:v>2</c:v>
                </c:pt>
                <c:pt idx="160">
                  <c:v>2</c:v>
                </c:pt>
                <c:pt idx="161">
                  <c:v>2</c:v>
                </c:pt>
                <c:pt idx="162">
                  <c:v>4</c:v>
                </c:pt>
                <c:pt idx="163">
                  <c:v>3</c:v>
                </c:pt>
                <c:pt idx="164">
                  <c:v>3</c:v>
                </c:pt>
                <c:pt idx="165">
                  <c:v>3</c:v>
                </c:pt>
                <c:pt idx="166">
                  <c:v>3</c:v>
                </c:pt>
                <c:pt idx="167">
                  <c:v>3</c:v>
                </c:pt>
                <c:pt idx="168">
                  <c:v>4</c:v>
                </c:pt>
                <c:pt idx="169">
                  <c:v>4</c:v>
                </c:pt>
                <c:pt idx="170">
                  <c:v>3</c:v>
                </c:pt>
                <c:pt idx="171">
                  <c:v>3</c:v>
                </c:pt>
                <c:pt idx="172">
                  <c:v>4</c:v>
                </c:pt>
                <c:pt idx="173">
                  <c:v>3</c:v>
                </c:pt>
                <c:pt idx="174">
                  <c:v>3</c:v>
                </c:pt>
                <c:pt idx="175">
                  <c:v>2</c:v>
                </c:pt>
                <c:pt idx="176">
                  <c:v>2</c:v>
                </c:pt>
                <c:pt idx="177">
                  <c:v>2</c:v>
                </c:pt>
                <c:pt idx="178">
                  <c:v>2</c:v>
                </c:pt>
                <c:pt idx="179">
                  <c:v>4</c:v>
                </c:pt>
                <c:pt idx="180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11-42E8-8220-A88F1B4A2F85}"/>
            </c:ext>
          </c:extLst>
        </c:ser>
        <c:ser>
          <c:idx val="1"/>
          <c:order val="1"/>
          <c:tx>
            <c:strRef>
              <c:f>'Headcount Rrequirement'!$D$3</c:f>
              <c:strCache>
                <c:ptCount val="1"/>
                <c:pt idx="0">
                  <c:v>Weekly Forecast Headcount Bin</c:v>
                </c:pt>
              </c:strCache>
            </c:strRef>
          </c:tx>
          <c:spPr>
            <a:ln w="28575" cap="rnd">
              <a:solidFill>
                <a:srgbClr val="E26B0A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26B0A"/>
              </a:solidFill>
              <a:ln w="9525">
                <a:solidFill>
                  <a:srgbClr val="E26B0A"/>
                </a:solidFill>
                <a:prstDash val="solid"/>
              </a:ln>
              <a:effectLst/>
            </c:spPr>
          </c:marker>
          <c:cat>
            <c:multiLvlStrRef>
              <c:f>'Headcount Rrequirement'!$A$4:$B$273</c:f>
              <c:multiLvlStrCache>
                <c:ptCount val="264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  <c:pt idx="35">
                    <c:v>36</c:v>
                  </c:pt>
                  <c:pt idx="36">
                    <c:v>37</c:v>
                  </c:pt>
                  <c:pt idx="37">
                    <c:v>38</c:v>
                  </c:pt>
                  <c:pt idx="38">
                    <c:v>39</c:v>
                  </c:pt>
                  <c:pt idx="39">
                    <c:v>40</c:v>
                  </c:pt>
                  <c:pt idx="40">
                    <c:v>41</c:v>
                  </c:pt>
                  <c:pt idx="41">
                    <c:v>42</c:v>
                  </c:pt>
                  <c:pt idx="42">
                    <c:v>43</c:v>
                  </c:pt>
                  <c:pt idx="43">
                    <c:v>44</c:v>
                  </c:pt>
                  <c:pt idx="44">
                    <c:v>45</c:v>
                  </c:pt>
                  <c:pt idx="45">
                    <c:v>46</c:v>
                  </c:pt>
                  <c:pt idx="46">
                    <c:v>47</c:v>
                  </c:pt>
                  <c:pt idx="47">
                    <c:v>48</c:v>
                  </c:pt>
                  <c:pt idx="48">
                    <c:v>49</c:v>
                  </c:pt>
                  <c:pt idx="49">
                    <c:v>50</c:v>
                  </c:pt>
                  <c:pt idx="50">
                    <c:v>51</c:v>
                  </c:pt>
                  <c:pt idx="51">
                    <c:v>52</c:v>
                  </c:pt>
                  <c:pt idx="52">
                    <c:v>53</c:v>
                  </c:pt>
                  <c:pt idx="53">
                    <c:v>1</c:v>
                  </c:pt>
                  <c:pt idx="54">
                    <c:v>2</c:v>
                  </c:pt>
                  <c:pt idx="55">
                    <c:v>3</c:v>
                  </c:pt>
                  <c:pt idx="56">
                    <c:v>4</c:v>
                  </c:pt>
                  <c:pt idx="57">
                    <c:v>5</c:v>
                  </c:pt>
                  <c:pt idx="58">
                    <c:v>6</c:v>
                  </c:pt>
                  <c:pt idx="59">
                    <c:v>7</c:v>
                  </c:pt>
                  <c:pt idx="60">
                    <c:v>8</c:v>
                  </c:pt>
                  <c:pt idx="61">
                    <c:v>9</c:v>
                  </c:pt>
                  <c:pt idx="62">
                    <c:v>10</c:v>
                  </c:pt>
                  <c:pt idx="63">
                    <c:v>11</c:v>
                  </c:pt>
                  <c:pt idx="64">
                    <c:v>12</c:v>
                  </c:pt>
                  <c:pt idx="65">
                    <c:v>13</c:v>
                  </c:pt>
                  <c:pt idx="66">
                    <c:v>14</c:v>
                  </c:pt>
                  <c:pt idx="67">
                    <c:v>15</c:v>
                  </c:pt>
                  <c:pt idx="68">
                    <c:v>16</c:v>
                  </c:pt>
                  <c:pt idx="69">
                    <c:v>17</c:v>
                  </c:pt>
                  <c:pt idx="70">
                    <c:v>18</c:v>
                  </c:pt>
                  <c:pt idx="71">
                    <c:v>19</c:v>
                  </c:pt>
                  <c:pt idx="72">
                    <c:v>20</c:v>
                  </c:pt>
                  <c:pt idx="73">
                    <c:v>21</c:v>
                  </c:pt>
                  <c:pt idx="74">
                    <c:v>22</c:v>
                  </c:pt>
                  <c:pt idx="75">
                    <c:v>23</c:v>
                  </c:pt>
                  <c:pt idx="76">
                    <c:v>24</c:v>
                  </c:pt>
                  <c:pt idx="77">
                    <c:v>25</c:v>
                  </c:pt>
                  <c:pt idx="78">
                    <c:v>26</c:v>
                  </c:pt>
                  <c:pt idx="79">
                    <c:v>27</c:v>
                  </c:pt>
                  <c:pt idx="80">
                    <c:v>28</c:v>
                  </c:pt>
                  <c:pt idx="81">
                    <c:v>29</c:v>
                  </c:pt>
                  <c:pt idx="82">
                    <c:v>30</c:v>
                  </c:pt>
                  <c:pt idx="83">
                    <c:v>31</c:v>
                  </c:pt>
                  <c:pt idx="84">
                    <c:v>32</c:v>
                  </c:pt>
                  <c:pt idx="85">
                    <c:v>33</c:v>
                  </c:pt>
                  <c:pt idx="86">
                    <c:v>34</c:v>
                  </c:pt>
                  <c:pt idx="87">
                    <c:v>35</c:v>
                  </c:pt>
                  <c:pt idx="88">
                    <c:v>36</c:v>
                  </c:pt>
                  <c:pt idx="89">
                    <c:v>37</c:v>
                  </c:pt>
                  <c:pt idx="90">
                    <c:v>38</c:v>
                  </c:pt>
                  <c:pt idx="91">
                    <c:v>39</c:v>
                  </c:pt>
                  <c:pt idx="92">
                    <c:v>40</c:v>
                  </c:pt>
                  <c:pt idx="93">
                    <c:v>41</c:v>
                  </c:pt>
                  <c:pt idx="94">
                    <c:v>42</c:v>
                  </c:pt>
                  <c:pt idx="95">
                    <c:v>43</c:v>
                  </c:pt>
                  <c:pt idx="96">
                    <c:v>44</c:v>
                  </c:pt>
                  <c:pt idx="97">
                    <c:v>45</c:v>
                  </c:pt>
                  <c:pt idx="98">
                    <c:v>46</c:v>
                  </c:pt>
                  <c:pt idx="99">
                    <c:v>47</c:v>
                  </c:pt>
                  <c:pt idx="100">
                    <c:v>48</c:v>
                  </c:pt>
                  <c:pt idx="101">
                    <c:v>49</c:v>
                  </c:pt>
                  <c:pt idx="102">
                    <c:v>50</c:v>
                  </c:pt>
                  <c:pt idx="103">
                    <c:v>51</c:v>
                  </c:pt>
                  <c:pt idx="104">
                    <c:v>52</c:v>
                  </c:pt>
                  <c:pt idx="105">
                    <c:v>53</c:v>
                  </c:pt>
                  <c:pt idx="106">
                    <c:v>1</c:v>
                  </c:pt>
                  <c:pt idx="107">
                    <c:v>2</c:v>
                  </c:pt>
                  <c:pt idx="108">
                    <c:v>3</c:v>
                  </c:pt>
                  <c:pt idx="109">
                    <c:v>4</c:v>
                  </c:pt>
                  <c:pt idx="110">
                    <c:v>5</c:v>
                  </c:pt>
                  <c:pt idx="111">
                    <c:v>6</c:v>
                  </c:pt>
                  <c:pt idx="112">
                    <c:v>7</c:v>
                  </c:pt>
                  <c:pt idx="113">
                    <c:v>8</c:v>
                  </c:pt>
                  <c:pt idx="114">
                    <c:v>9</c:v>
                  </c:pt>
                  <c:pt idx="115">
                    <c:v>10</c:v>
                  </c:pt>
                  <c:pt idx="116">
                    <c:v>11</c:v>
                  </c:pt>
                  <c:pt idx="117">
                    <c:v>12</c:v>
                  </c:pt>
                  <c:pt idx="118">
                    <c:v>13</c:v>
                  </c:pt>
                  <c:pt idx="119">
                    <c:v>14</c:v>
                  </c:pt>
                  <c:pt idx="120">
                    <c:v>15</c:v>
                  </c:pt>
                  <c:pt idx="121">
                    <c:v>16</c:v>
                  </c:pt>
                  <c:pt idx="122">
                    <c:v>18</c:v>
                  </c:pt>
                  <c:pt idx="123">
                    <c:v>19</c:v>
                  </c:pt>
                  <c:pt idx="124">
                    <c:v>20</c:v>
                  </c:pt>
                  <c:pt idx="125">
                    <c:v>21</c:v>
                  </c:pt>
                  <c:pt idx="126">
                    <c:v>22</c:v>
                  </c:pt>
                  <c:pt idx="127">
                    <c:v>23</c:v>
                  </c:pt>
                  <c:pt idx="128">
                    <c:v>24</c:v>
                  </c:pt>
                  <c:pt idx="129">
                    <c:v>25</c:v>
                  </c:pt>
                  <c:pt idx="130">
                    <c:v>26</c:v>
                  </c:pt>
                  <c:pt idx="131">
                    <c:v>27</c:v>
                  </c:pt>
                  <c:pt idx="132">
                    <c:v>28</c:v>
                  </c:pt>
                  <c:pt idx="133">
                    <c:v>29</c:v>
                  </c:pt>
                  <c:pt idx="134">
                    <c:v>30</c:v>
                  </c:pt>
                  <c:pt idx="135">
                    <c:v>31</c:v>
                  </c:pt>
                  <c:pt idx="136">
                    <c:v>32</c:v>
                  </c:pt>
                  <c:pt idx="137">
                    <c:v>33</c:v>
                  </c:pt>
                  <c:pt idx="138">
                    <c:v>34</c:v>
                  </c:pt>
                  <c:pt idx="139">
                    <c:v>35</c:v>
                  </c:pt>
                  <c:pt idx="140">
                    <c:v>36</c:v>
                  </c:pt>
                  <c:pt idx="141">
                    <c:v>37</c:v>
                  </c:pt>
                  <c:pt idx="142">
                    <c:v>38</c:v>
                  </c:pt>
                  <c:pt idx="143">
                    <c:v>39</c:v>
                  </c:pt>
                  <c:pt idx="144">
                    <c:v>40</c:v>
                  </c:pt>
                  <c:pt idx="145">
                    <c:v>41</c:v>
                  </c:pt>
                  <c:pt idx="146">
                    <c:v>42</c:v>
                  </c:pt>
                  <c:pt idx="147">
                    <c:v>43</c:v>
                  </c:pt>
                  <c:pt idx="148">
                    <c:v>44</c:v>
                  </c:pt>
                  <c:pt idx="149">
                    <c:v>45</c:v>
                  </c:pt>
                  <c:pt idx="150">
                    <c:v>46</c:v>
                  </c:pt>
                  <c:pt idx="151">
                    <c:v>47</c:v>
                  </c:pt>
                  <c:pt idx="152">
                    <c:v>48</c:v>
                  </c:pt>
                  <c:pt idx="153">
                    <c:v>49</c:v>
                  </c:pt>
                  <c:pt idx="154">
                    <c:v>50</c:v>
                  </c:pt>
                  <c:pt idx="155">
                    <c:v>51</c:v>
                  </c:pt>
                  <c:pt idx="156">
                    <c:v>52</c:v>
                  </c:pt>
                  <c:pt idx="157">
                    <c:v>53</c:v>
                  </c:pt>
                  <c:pt idx="158">
                    <c:v>1</c:v>
                  </c:pt>
                  <c:pt idx="159">
                    <c:v>2</c:v>
                  </c:pt>
                  <c:pt idx="160">
                    <c:v>3</c:v>
                  </c:pt>
                  <c:pt idx="161">
                    <c:v>4</c:v>
                  </c:pt>
                  <c:pt idx="162">
                    <c:v>5</c:v>
                  </c:pt>
                  <c:pt idx="163">
                    <c:v>6</c:v>
                  </c:pt>
                  <c:pt idx="164">
                    <c:v>7</c:v>
                  </c:pt>
                  <c:pt idx="165">
                    <c:v>8</c:v>
                  </c:pt>
                  <c:pt idx="166">
                    <c:v>9</c:v>
                  </c:pt>
                  <c:pt idx="167">
                    <c:v>10</c:v>
                  </c:pt>
                  <c:pt idx="168">
                    <c:v>11</c:v>
                  </c:pt>
                  <c:pt idx="169">
                    <c:v>12</c:v>
                  </c:pt>
                  <c:pt idx="170">
                    <c:v>13</c:v>
                  </c:pt>
                  <c:pt idx="171">
                    <c:v>14</c:v>
                  </c:pt>
                  <c:pt idx="172">
                    <c:v>15</c:v>
                  </c:pt>
                  <c:pt idx="173">
                    <c:v>16</c:v>
                  </c:pt>
                  <c:pt idx="174">
                    <c:v>17</c:v>
                  </c:pt>
                  <c:pt idx="175">
                    <c:v>18</c:v>
                  </c:pt>
                  <c:pt idx="176">
                    <c:v>19</c:v>
                  </c:pt>
                  <c:pt idx="177">
                    <c:v>20</c:v>
                  </c:pt>
                  <c:pt idx="178">
                    <c:v>21</c:v>
                  </c:pt>
                  <c:pt idx="179">
                    <c:v>22</c:v>
                  </c:pt>
                  <c:pt idx="180">
                    <c:v>23</c:v>
                  </c:pt>
                  <c:pt idx="181">
                    <c:v>24</c:v>
                  </c:pt>
                  <c:pt idx="182">
                    <c:v>25</c:v>
                  </c:pt>
                  <c:pt idx="183">
                    <c:v>26</c:v>
                  </c:pt>
                  <c:pt idx="184">
                    <c:v>27</c:v>
                  </c:pt>
                  <c:pt idx="185">
                    <c:v>28</c:v>
                  </c:pt>
                  <c:pt idx="186">
                    <c:v>29</c:v>
                  </c:pt>
                  <c:pt idx="187">
                    <c:v>30</c:v>
                  </c:pt>
                  <c:pt idx="188">
                    <c:v>31</c:v>
                  </c:pt>
                  <c:pt idx="189">
                    <c:v>32</c:v>
                  </c:pt>
                  <c:pt idx="190">
                    <c:v>33</c:v>
                  </c:pt>
                  <c:pt idx="191">
                    <c:v>34</c:v>
                  </c:pt>
                  <c:pt idx="192">
                    <c:v>35</c:v>
                  </c:pt>
                  <c:pt idx="193">
                    <c:v>36</c:v>
                  </c:pt>
                  <c:pt idx="194">
                    <c:v>37</c:v>
                  </c:pt>
                  <c:pt idx="195">
                    <c:v>38</c:v>
                  </c:pt>
                  <c:pt idx="196">
                    <c:v>39</c:v>
                  </c:pt>
                  <c:pt idx="197">
                    <c:v>40</c:v>
                  </c:pt>
                  <c:pt idx="198">
                    <c:v>41</c:v>
                  </c:pt>
                  <c:pt idx="199">
                    <c:v>42</c:v>
                  </c:pt>
                  <c:pt idx="200">
                    <c:v>43</c:v>
                  </c:pt>
                  <c:pt idx="201">
                    <c:v>44</c:v>
                  </c:pt>
                  <c:pt idx="202">
                    <c:v>45</c:v>
                  </c:pt>
                  <c:pt idx="203">
                    <c:v>46</c:v>
                  </c:pt>
                  <c:pt idx="204">
                    <c:v>47</c:v>
                  </c:pt>
                  <c:pt idx="205">
                    <c:v>48</c:v>
                  </c:pt>
                  <c:pt idx="206">
                    <c:v>49</c:v>
                  </c:pt>
                  <c:pt idx="207">
                    <c:v>50</c:v>
                  </c:pt>
                  <c:pt idx="208">
                    <c:v>51</c:v>
                  </c:pt>
                  <c:pt idx="209">
                    <c:v>52</c:v>
                  </c:pt>
                  <c:pt idx="210">
                    <c:v>53</c:v>
                  </c:pt>
                  <c:pt idx="211">
                    <c:v>1</c:v>
                  </c:pt>
                  <c:pt idx="212">
                    <c:v>2</c:v>
                  </c:pt>
                  <c:pt idx="213">
                    <c:v>3</c:v>
                  </c:pt>
                  <c:pt idx="214">
                    <c:v>4</c:v>
                  </c:pt>
                  <c:pt idx="215">
                    <c:v>5</c:v>
                  </c:pt>
                  <c:pt idx="216">
                    <c:v>6</c:v>
                  </c:pt>
                  <c:pt idx="217">
                    <c:v>7</c:v>
                  </c:pt>
                  <c:pt idx="218">
                    <c:v>8</c:v>
                  </c:pt>
                  <c:pt idx="219">
                    <c:v>9</c:v>
                  </c:pt>
                  <c:pt idx="220">
                    <c:v>10</c:v>
                  </c:pt>
                  <c:pt idx="221">
                    <c:v>11</c:v>
                  </c:pt>
                  <c:pt idx="222">
                    <c:v>12</c:v>
                  </c:pt>
                  <c:pt idx="223">
                    <c:v>13</c:v>
                  </c:pt>
                  <c:pt idx="224">
                    <c:v>14</c:v>
                  </c:pt>
                  <c:pt idx="225">
                    <c:v>15</c:v>
                  </c:pt>
                  <c:pt idx="226">
                    <c:v>16</c:v>
                  </c:pt>
                  <c:pt idx="227">
                    <c:v>17</c:v>
                  </c:pt>
                  <c:pt idx="228">
                    <c:v>18</c:v>
                  </c:pt>
                  <c:pt idx="229">
                    <c:v>19</c:v>
                  </c:pt>
                  <c:pt idx="230">
                    <c:v>20</c:v>
                  </c:pt>
                  <c:pt idx="231">
                    <c:v>21</c:v>
                  </c:pt>
                  <c:pt idx="232">
                    <c:v>22</c:v>
                  </c:pt>
                  <c:pt idx="233">
                    <c:v>23</c:v>
                  </c:pt>
                  <c:pt idx="234">
                    <c:v>24</c:v>
                  </c:pt>
                  <c:pt idx="235">
                    <c:v>25</c:v>
                  </c:pt>
                  <c:pt idx="236">
                    <c:v>26</c:v>
                  </c:pt>
                  <c:pt idx="237">
                    <c:v>27</c:v>
                  </c:pt>
                  <c:pt idx="238">
                    <c:v>28</c:v>
                  </c:pt>
                  <c:pt idx="239">
                    <c:v>29</c:v>
                  </c:pt>
                  <c:pt idx="240">
                    <c:v>30</c:v>
                  </c:pt>
                  <c:pt idx="241">
                    <c:v>31</c:v>
                  </c:pt>
                  <c:pt idx="242">
                    <c:v>32</c:v>
                  </c:pt>
                  <c:pt idx="243">
                    <c:v>33</c:v>
                  </c:pt>
                  <c:pt idx="244">
                    <c:v>34</c:v>
                  </c:pt>
                  <c:pt idx="245">
                    <c:v>35</c:v>
                  </c:pt>
                  <c:pt idx="246">
                    <c:v>36</c:v>
                  </c:pt>
                  <c:pt idx="247">
                    <c:v>37</c:v>
                  </c:pt>
                  <c:pt idx="248">
                    <c:v>38</c:v>
                  </c:pt>
                  <c:pt idx="249">
                    <c:v>39</c:v>
                  </c:pt>
                  <c:pt idx="250">
                    <c:v>40</c:v>
                  </c:pt>
                  <c:pt idx="251">
                    <c:v>41</c:v>
                  </c:pt>
                  <c:pt idx="252">
                    <c:v>42</c:v>
                  </c:pt>
                  <c:pt idx="253">
                    <c:v>43</c:v>
                  </c:pt>
                  <c:pt idx="254">
                    <c:v>44</c:v>
                  </c:pt>
                  <c:pt idx="255">
                    <c:v>45</c:v>
                  </c:pt>
                  <c:pt idx="256">
                    <c:v>46</c:v>
                  </c:pt>
                  <c:pt idx="257">
                    <c:v>47</c:v>
                  </c:pt>
                  <c:pt idx="258">
                    <c:v>48</c:v>
                  </c:pt>
                  <c:pt idx="259">
                    <c:v>49</c:v>
                  </c:pt>
                  <c:pt idx="260">
                    <c:v>50</c:v>
                  </c:pt>
                  <c:pt idx="261">
                    <c:v>51</c:v>
                  </c:pt>
                  <c:pt idx="262">
                    <c:v>52</c:v>
                  </c:pt>
                  <c:pt idx="263">
                    <c:v>53</c:v>
                  </c:pt>
                </c:lvl>
                <c:lvl>
                  <c:pt idx="0">
                    <c:v>2020</c:v>
                  </c:pt>
                  <c:pt idx="53">
                    <c:v>2021</c:v>
                  </c:pt>
                  <c:pt idx="106">
                    <c:v>2022</c:v>
                  </c:pt>
                  <c:pt idx="158">
                    <c:v>2023</c:v>
                  </c:pt>
                  <c:pt idx="211">
                    <c:v>2024</c:v>
                  </c:pt>
                </c:lvl>
              </c:multiLvlStrCache>
            </c:multiLvlStrRef>
          </c:cat>
          <c:val>
            <c:numRef>
              <c:f>'Headcount Rrequirement'!$D$4:$D$273</c:f>
              <c:numCache>
                <c:formatCode>General</c:formatCode>
                <c:ptCount val="264"/>
                <c:pt idx="158">
                  <c:v>2</c:v>
                </c:pt>
                <c:pt idx="159">
                  <c:v>2</c:v>
                </c:pt>
                <c:pt idx="160">
                  <c:v>3</c:v>
                </c:pt>
                <c:pt idx="161">
                  <c:v>2</c:v>
                </c:pt>
                <c:pt idx="162">
                  <c:v>3</c:v>
                </c:pt>
                <c:pt idx="163">
                  <c:v>3</c:v>
                </c:pt>
                <c:pt idx="164">
                  <c:v>3</c:v>
                </c:pt>
                <c:pt idx="165">
                  <c:v>3</c:v>
                </c:pt>
                <c:pt idx="166">
                  <c:v>3</c:v>
                </c:pt>
                <c:pt idx="167">
                  <c:v>3</c:v>
                </c:pt>
                <c:pt idx="168">
                  <c:v>2</c:v>
                </c:pt>
                <c:pt idx="169">
                  <c:v>2</c:v>
                </c:pt>
                <c:pt idx="170">
                  <c:v>2</c:v>
                </c:pt>
                <c:pt idx="171">
                  <c:v>2</c:v>
                </c:pt>
                <c:pt idx="172">
                  <c:v>2</c:v>
                </c:pt>
                <c:pt idx="173">
                  <c:v>3</c:v>
                </c:pt>
                <c:pt idx="174">
                  <c:v>3</c:v>
                </c:pt>
                <c:pt idx="175">
                  <c:v>2</c:v>
                </c:pt>
                <c:pt idx="176">
                  <c:v>3</c:v>
                </c:pt>
                <c:pt idx="177">
                  <c:v>3</c:v>
                </c:pt>
                <c:pt idx="178">
                  <c:v>2</c:v>
                </c:pt>
                <c:pt idx="179">
                  <c:v>3</c:v>
                </c:pt>
                <c:pt idx="180">
                  <c:v>2</c:v>
                </c:pt>
                <c:pt idx="181">
                  <c:v>3</c:v>
                </c:pt>
                <c:pt idx="182">
                  <c:v>3</c:v>
                </c:pt>
                <c:pt idx="183">
                  <c:v>3</c:v>
                </c:pt>
                <c:pt idx="184">
                  <c:v>3</c:v>
                </c:pt>
                <c:pt idx="185">
                  <c:v>2</c:v>
                </c:pt>
                <c:pt idx="186">
                  <c:v>3</c:v>
                </c:pt>
                <c:pt idx="187">
                  <c:v>3</c:v>
                </c:pt>
                <c:pt idx="188">
                  <c:v>2</c:v>
                </c:pt>
                <c:pt idx="189">
                  <c:v>2</c:v>
                </c:pt>
                <c:pt idx="190">
                  <c:v>2</c:v>
                </c:pt>
                <c:pt idx="191">
                  <c:v>2</c:v>
                </c:pt>
                <c:pt idx="192">
                  <c:v>2</c:v>
                </c:pt>
                <c:pt idx="193">
                  <c:v>2</c:v>
                </c:pt>
                <c:pt idx="194">
                  <c:v>2</c:v>
                </c:pt>
                <c:pt idx="195">
                  <c:v>2</c:v>
                </c:pt>
                <c:pt idx="196">
                  <c:v>2</c:v>
                </c:pt>
                <c:pt idx="197">
                  <c:v>2</c:v>
                </c:pt>
                <c:pt idx="198">
                  <c:v>3</c:v>
                </c:pt>
                <c:pt idx="199">
                  <c:v>3</c:v>
                </c:pt>
                <c:pt idx="200">
                  <c:v>3</c:v>
                </c:pt>
                <c:pt idx="201">
                  <c:v>3</c:v>
                </c:pt>
                <c:pt idx="202">
                  <c:v>3</c:v>
                </c:pt>
                <c:pt idx="203">
                  <c:v>2</c:v>
                </c:pt>
                <c:pt idx="204">
                  <c:v>2</c:v>
                </c:pt>
                <c:pt idx="205">
                  <c:v>3</c:v>
                </c:pt>
                <c:pt idx="206">
                  <c:v>3</c:v>
                </c:pt>
                <c:pt idx="207">
                  <c:v>3</c:v>
                </c:pt>
                <c:pt idx="208">
                  <c:v>3</c:v>
                </c:pt>
                <c:pt idx="209">
                  <c:v>3</c:v>
                </c:pt>
                <c:pt idx="210">
                  <c:v>2</c:v>
                </c:pt>
                <c:pt idx="211">
                  <c:v>3</c:v>
                </c:pt>
                <c:pt idx="212">
                  <c:v>3</c:v>
                </c:pt>
                <c:pt idx="213">
                  <c:v>3</c:v>
                </c:pt>
                <c:pt idx="214">
                  <c:v>3</c:v>
                </c:pt>
                <c:pt idx="215">
                  <c:v>3</c:v>
                </c:pt>
                <c:pt idx="216">
                  <c:v>3</c:v>
                </c:pt>
                <c:pt idx="217">
                  <c:v>3</c:v>
                </c:pt>
                <c:pt idx="218">
                  <c:v>3</c:v>
                </c:pt>
                <c:pt idx="219">
                  <c:v>3</c:v>
                </c:pt>
                <c:pt idx="220">
                  <c:v>3</c:v>
                </c:pt>
                <c:pt idx="221">
                  <c:v>3</c:v>
                </c:pt>
                <c:pt idx="222">
                  <c:v>3</c:v>
                </c:pt>
                <c:pt idx="223">
                  <c:v>2</c:v>
                </c:pt>
                <c:pt idx="224">
                  <c:v>3</c:v>
                </c:pt>
                <c:pt idx="225">
                  <c:v>3</c:v>
                </c:pt>
                <c:pt idx="226">
                  <c:v>3</c:v>
                </c:pt>
                <c:pt idx="227">
                  <c:v>3</c:v>
                </c:pt>
                <c:pt idx="228">
                  <c:v>3</c:v>
                </c:pt>
                <c:pt idx="229">
                  <c:v>3</c:v>
                </c:pt>
                <c:pt idx="230">
                  <c:v>3</c:v>
                </c:pt>
                <c:pt idx="231">
                  <c:v>3</c:v>
                </c:pt>
                <c:pt idx="232">
                  <c:v>3</c:v>
                </c:pt>
                <c:pt idx="233">
                  <c:v>3</c:v>
                </c:pt>
                <c:pt idx="234">
                  <c:v>3</c:v>
                </c:pt>
                <c:pt idx="235">
                  <c:v>3</c:v>
                </c:pt>
                <c:pt idx="236">
                  <c:v>3</c:v>
                </c:pt>
                <c:pt idx="237">
                  <c:v>3</c:v>
                </c:pt>
                <c:pt idx="238">
                  <c:v>3</c:v>
                </c:pt>
                <c:pt idx="239">
                  <c:v>3</c:v>
                </c:pt>
                <c:pt idx="240">
                  <c:v>3</c:v>
                </c:pt>
                <c:pt idx="241">
                  <c:v>3</c:v>
                </c:pt>
                <c:pt idx="242">
                  <c:v>3</c:v>
                </c:pt>
                <c:pt idx="243">
                  <c:v>3</c:v>
                </c:pt>
                <c:pt idx="244">
                  <c:v>3</c:v>
                </c:pt>
                <c:pt idx="245">
                  <c:v>3</c:v>
                </c:pt>
                <c:pt idx="246">
                  <c:v>3</c:v>
                </c:pt>
                <c:pt idx="247">
                  <c:v>3</c:v>
                </c:pt>
                <c:pt idx="248">
                  <c:v>3</c:v>
                </c:pt>
                <c:pt idx="249">
                  <c:v>3</c:v>
                </c:pt>
                <c:pt idx="250">
                  <c:v>3</c:v>
                </c:pt>
                <c:pt idx="251">
                  <c:v>3</c:v>
                </c:pt>
                <c:pt idx="252">
                  <c:v>3</c:v>
                </c:pt>
                <c:pt idx="253">
                  <c:v>3</c:v>
                </c:pt>
                <c:pt idx="254">
                  <c:v>3</c:v>
                </c:pt>
                <c:pt idx="255">
                  <c:v>3</c:v>
                </c:pt>
                <c:pt idx="256">
                  <c:v>3</c:v>
                </c:pt>
                <c:pt idx="257">
                  <c:v>3</c:v>
                </c:pt>
                <c:pt idx="258">
                  <c:v>3</c:v>
                </c:pt>
                <c:pt idx="259">
                  <c:v>3</c:v>
                </c:pt>
                <c:pt idx="260">
                  <c:v>3</c:v>
                </c:pt>
                <c:pt idx="261">
                  <c:v>3</c:v>
                </c:pt>
                <c:pt idx="262">
                  <c:v>3</c:v>
                </c:pt>
                <c:pt idx="263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11-42E8-8220-A88F1B4A2F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714951"/>
        <c:axId val="87638023"/>
      </c:lineChart>
      <c:catAx>
        <c:axId val="857149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Year and Week 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638023"/>
        <c:crosses val="autoZero"/>
        <c:auto val="1"/>
        <c:lblAlgn val="ctr"/>
        <c:lblOffset val="100"/>
        <c:noMultiLvlLbl val="0"/>
      </c:catAx>
      <c:valAx>
        <c:axId val="876380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Weekly Headcount per Day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714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rgbClr val="000000"/>
      </a:solidFill>
      <a:prstDash val="solid"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0F3E4D-B4D1-430E-817A-AF882A4EC78E}" type="doc">
      <dgm:prSet loTypeId="urn:microsoft.com/office/officeart/2005/8/layout/vList2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50BCD7AE-7A32-4C86-8FB7-BC397F7583FC}">
      <dgm:prSet/>
      <dgm:spPr/>
      <dgm:t>
        <a:bodyPr/>
        <a:lstStyle/>
        <a:p>
          <a:r>
            <a:rPr lang="en-US"/>
            <a:t>One to two agents at call center, with a potential part time agent. </a:t>
          </a:r>
        </a:p>
      </dgm:t>
    </dgm:pt>
    <dgm:pt modelId="{E4E0F7B3-4BAE-4116-A37C-556C2798730D}" type="parTrans" cxnId="{30981180-0EFA-419D-9C1C-503E5281521B}">
      <dgm:prSet/>
      <dgm:spPr/>
      <dgm:t>
        <a:bodyPr/>
        <a:lstStyle/>
        <a:p>
          <a:endParaRPr lang="en-US"/>
        </a:p>
      </dgm:t>
    </dgm:pt>
    <dgm:pt modelId="{6C8107B8-CB12-4A79-9A22-3C5824954043}" type="sibTrans" cxnId="{30981180-0EFA-419D-9C1C-503E5281521B}">
      <dgm:prSet/>
      <dgm:spPr/>
      <dgm:t>
        <a:bodyPr/>
        <a:lstStyle/>
        <a:p>
          <a:endParaRPr lang="en-US"/>
        </a:p>
      </dgm:t>
    </dgm:pt>
    <dgm:pt modelId="{B7FC503D-FB2C-472F-929A-EAC51641F38C}">
      <dgm:prSet/>
      <dgm:spPr/>
      <dgm:t>
        <a:bodyPr/>
        <a:lstStyle/>
        <a:p>
          <a:pPr rtl="0"/>
          <a:r>
            <a:rPr lang="en-US"/>
            <a:t>Industry standard work day of a hours with 80</a:t>
          </a:r>
          <a:r>
            <a:rPr lang="en-US">
              <a:latin typeface="Aptos Display" panose="020F0302020204030204"/>
            </a:rPr>
            <a:t>%</a:t>
          </a:r>
          <a:r>
            <a:rPr lang="en-US"/>
            <a:t> occupancy results in </a:t>
          </a:r>
          <a:r>
            <a:rPr lang="en-US">
              <a:latin typeface="Aptos Display" panose="020F0302020204030204"/>
            </a:rPr>
            <a:t>384 workload</a:t>
          </a:r>
          <a:r>
            <a:rPr lang="en-US"/>
            <a:t> minutes per day.</a:t>
          </a:r>
        </a:p>
      </dgm:t>
    </dgm:pt>
    <dgm:pt modelId="{74F041B0-D6E5-4BED-9426-B58973495FE0}" type="parTrans" cxnId="{D012091E-FBEC-4916-A497-00D0FD468761}">
      <dgm:prSet/>
      <dgm:spPr/>
      <dgm:t>
        <a:bodyPr/>
        <a:lstStyle/>
        <a:p>
          <a:endParaRPr lang="en-US"/>
        </a:p>
      </dgm:t>
    </dgm:pt>
    <dgm:pt modelId="{85D900D5-62CD-4F8C-B382-96C3C989773A}" type="sibTrans" cxnId="{D012091E-FBEC-4916-A497-00D0FD468761}">
      <dgm:prSet/>
      <dgm:spPr/>
      <dgm:t>
        <a:bodyPr/>
        <a:lstStyle/>
        <a:p>
          <a:endParaRPr lang="en-US"/>
        </a:p>
      </dgm:t>
    </dgm:pt>
    <dgm:pt modelId="{7E818D03-E62A-440C-9887-2F7F55EB73DE}">
      <dgm:prSet/>
      <dgm:spPr/>
      <dgm:t>
        <a:bodyPr/>
        <a:lstStyle/>
        <a:p>
          <a:r>
            <a:rPr lang="en-US"/>
            <a:t>Work week from Monday to Sunday. </a:t>
          </a:r>
        </a:p>
      </dgm:t>
    </dgm:pt>
    <dgm:pt modelId="{049566C0-B923-416A-951A-D7BA83C72B47}" type="parTrans" cxnId="{77F2D489-EF4A-4AED-A29D-C9065EE977EF}">
      <dgm:prSet/>
      <dgm:spPr/>
      <dgm:t>
        <a:bodyPr/>
        <a:lstStyle/>
        <a:p>
          <a:endParaRPr lang="en-US"/>
        </a:p>
      </dgm:t>
    </dgm:pt>
    <dgm:pt modelId="{36685AB3-72F4-4BEA-9E8D-2E8C87ED6130}" type="sibTrans" cxnId="{77F2D489-EF4A-4AED-A29D-C9065EE977EF}">
      <dgm:prSet/>
      <dgm:spPr/>
      <dgm:t>
        <a:bodyPr/>
        <a:lstStyle/>
        <a:p>
          <a:endParaRPr lang="en-US"/>
        </a:p>
      </dgm:t>
    </dgm:pt>
    <dgm:pt modelId="{83FA12A1-B91C-46A6-8B59-D028997F5679}">
      <dgm:prSet/>
      <dgm:spPr/>
      <dgm:t>
        <a:bodyPr/>
        <a:lstStyle/>
        <a:p>
          <a:r>
            <a:rPr lang="en-US"/>
            <a:t>Sunday has limited work time creating a cyclical pattern for weeks.</a:t>
          </a:r>
        </a:p>
      </dgm:t>
    </dgm:pt>
    <dgm:pt modelId="{EB89310F-FF12-4593-A018-EEA8E4853FA2}" type="parTrans" cxnId="{2DDF48F3-3506-4967-B076-87B54F46EC24}">
      <dgm:prSet/>
      <dgm:spPr/>
      <dgm:t>
        <a:bodyPr/>
        <a:lstStyle/>
        <a:p>
          <a:endParaRPr lang="en-US"/>
        </a:p>
      </dgm:t>
    </dgm:pt>
    <dgm:pt modelId="{C1E71FB9-976D-4236-AED3-3DB8D60F32BC}" type="sibTrans" cxnId="{2DDF48F3-3506-4967-B076-87B54F46EC24}">
      <dgm:prSet/>
      <dgm:spPr/>
      <dgm:t>
        <a:bodyPr/>
        <a:lstStyle/>
        <a:p>
          <a:endParaRPr lang="en-US"/>
        </a:p>
      </dgm:t>
    </dgm:pt>
    <dgm:pt modelId="{D67702B0-9211-474D-8D4C-9C5D2B9CE4E4}">
      <dgm:prSet/>
      <dgm:spPr/>
      <dgm:t>
        <a:bodyPr/>
        <a:lstStyle/>
        <a:p>
          <a:r>
            <a:rPr lang="en-US"/>
            <a:t>Monthly or yearly cyclical pattern not evident.</a:t>
          </a:r>
        </a:p>
      </dgm:t>
    </dgm:pt>
    <dgm:pt modelId="{72776285-0AF1-49C0-A72F-57B981598649}" type="parTrans" cxnId="{7629A88B-2D99-4A46-838D-58F2C4510F73}">
      <dgm:prSet/>
      <dgm:spPr/>
      <dgm:t>
        <a:bodyPr/>
        <a:lstStyle/>
        <a:p>
          <a:endParaRPr lang="en-US"/>
        </a:p>
      </dgm:t>
    </dgm:pt>
    <dgm:pt modelId="{0DBA163B-876F-495C-B001-E952134686C6}" type="sibTrans" cxnId="{7629A88B-2D99-4A46-838D-58F2C4510F73}">
      <dgm:prSet/>
      <dgm:spPr/>
      <dgm:t>
        <a:bodyPr/>
        <a:lstStyle/>
        <a:p>
          <a:endParaRPr lang="en-US"/>
        </a:p>
      </dgm:t>
    </dgm:pt>
    <dgm:pt modelId="{40EFAB86-FFD9-458E-B0AB-1491688118BD}">
      <dgm:prSet/>
      <dgm:spPr/>
      <dgm:t>
        <a:bodyPr/>
        <a:lstStyle/>
        <a:p>
          <a:r>
            <a:rPr lang="en-US"/>
            <a:t>Complete records until May 2023.</a:t>
          </a:r>
        </a:p>
      </dgm:t>
    </dgm:pt>
    <dgm:pt modelId="{F403E0B2-3F58-41F4-9F8C-736B5B2109A7}" type="parTrans" cxnId="{03F7424A-FF3C-43BC-84B0-975600ED9AAA}">
      <dgm:prSet/>
      <dgm:spPr/>
      <dgm:t>
        <a:bodyPr/>
        <a:lstStyle/>
        <a:p>
          <a:endParaRPr lang="en-US"/>
        </a:p>
      </dgm:t>
    </dgm:pt>
    <dgm:pt modelId="{A5C28D73-37B2-4B49-A292-F1AC4D5C5976}" type="sibTrans" cxnId="{03F7424A-FF3C-43BC-84B0-975600ED9AAA}">
      <dgm:prSet/>
      <dgm:spPr/>
      <dgm:t>
        <a:bodyPr/>
        <a:lstStyle/>
        <a:p>
          <a:endParaRPr lang="en-US"/>
        </a:p>
      </dgm:t>
    </dgm:pt>
    <dgm:pt modelId="{DC5AA14F-B879-4F24-B669-3B6861CF417F}">
      <dgm:prSet/>
      <dgm:spPr/>
      <dgm:t>
        <a:bodyPr/>
        <a:lstStyle/>
        <a:p>
          <a:r>
            <a:rPr lang="en-US"/>
            <a:t>External event creating increased demand in the first half of 2022.</a:t>
          </a:r>
        </a:p>
      </dgm:t>
    </dgm:pt>
    <dgm:pt modelId="{3F058555-B97F-4892-A6FD-1958DDE8EB1F}" type="parTrans" cxnId="{EABD267E-8DF6-48D2-B301-DB72B83B2A3C}">
      <dgm:prSet/>
      <dgm:spPr/>
      <dgm:t>
        <a:bodyPr/>
        <a:lstStyle/>
        <a:p>
          <a:endParaRPr lang="en-US"/>
        </a:p>
      </dgm:t>
    </dgm:pt>
    <dgm:pt modelId="{929F192E-932E-4630-8BEC-5247079E331F}" type="sibTrans" cxnId="{EABD267E-8DF6-48D2-B301-DB72B83B2A3C}">
      <dgm:prSet/>
      <dgm:spPr/>
      <dgm:t>
        <a:bodyPr/>
        <a:lstStyle/>
        <a:p>
          <a:endParaRPr lang="en-US"/>
        </a:p>
      </dgm:t>
    </dgm:pt>
    <dgm:pt modelId="{987340D8-2AA7-49F9-9D32-63BB07BA317E}" type="pres">
      <dgm:prSet presAssocID="{780F3E4D-B4D1-430E-817A-AF882A4EC78E}" presName="linear" presStyleCnt="0">
        <dgm:presLayoutVars>
          <dgm:animLvl val="lvl"/>
          <dgm:resizeHandles val="exact"/>
        </dgm:presLayoutVars>
      </dgm:prSet>
      <dgm:spPr/>
    </dgm:pt>
    <dgm:pt modelId="{F8E8C356-92CD-49EF-ACC7-FA9A20124221}" type="pres">
      <dgm:prSet presAssocID="{50BCD7AE-7A32-4C86-8FB7-BC397F7583F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885D664-AEFD-426F-B80D-3185D448971D}" type="pres">
      <dgm:prSet presAssocID="{6C8107B8-CB12-4A79-9A22-3C5824954043}" presName="spacer" presStyleCnt="0"/>
      <dgm:spPr/>
    </dgm:pt>
    <dgm:pt modelId="{01CBC8DA-BCD1-4B0A-AF98-05FB14CC34F9}" type="pres">
      <dgm:prSet presAssocID="{B7FC503D-FB2C-472F-929A-EAC51641F38C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1E7C0CB1-A5B4-4B56-A2E4-C8464B85D2FC}" type="pres">
      <dgm:prSet presAssocID="{85D900D5-62CD-4F8C-B382-96C3C989773A}" presName="spacer" presStyleCnt="0"/>
      <dgm:spPr/>
    </dgm:pt>
    <dgm:pt modelId="{74022327-4B5A-4E50-808E-83B94519EBF0}" type="pres">
      <dgm:prSet presAssocID="{7E818D03-E62A-440C-9887-2F7F55EB73DE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C79645E8-A00E-4479-8F4D-BA10FBB6CF2D}" type="pres">
      <dgm:prSet presAssocID="{36685AB3-72F4-4BEA-9E8D-2E8C87ED6130}" presName="spacer" presStyleCnt="0"/>
      <dgm:spPr/>
    </dgm:pt>
    <dgm:pt modelId="{03C859E8-84B2-43FF-BC98-B8B8432D8B67}" type="pres">
      <dgm:prSet presAssocID="{83FA12A1-B91C-46A6-8B59-D028997F5679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294CEF67-3D84-4D14-A28A-09BD33DDDBCE}" type="pres">
      <dgm:prSet presAssocID="{C1E71FB9-976D-4236-AED3-3DB8D60F32BC}" presName="spacer" presStyleCnt="0"/>
      <dgm:spPr/>
    </dgm:pt>
    <dgm:pt modelId="{156C03C6-9EA1-41F5-BCB0-2D343D8A1A4D}" type="pres">
      <dgm:prSet presAssocID="{D67702B0-9211-474D-8D4C-9C5D2B9CE4E4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119E172E-7E87-4C68-93E0-A150AA4347B5}" type="pres">
      <dgm:prSet presAssocID="{0DBA163B-876F-495C-B001-E952134686C6}" presName="spacer" presStyleCnt="0"/>
      <dgm:spPr/>
    </dgm:pt>
    <dgm:pt modelId="{40D25C53-938B-4F40-9CCB-2A6E7F04C956}" type="pres">
      <dgm:prSet presAssocID="{40EFAB86-FFD9-458E-B0AB-1491688118BD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5BB9B13A-3854-4064-A647-74247661B17F}" type="pres">
      <dgm:prSet presAssocID="{A5C28D73-37B2-4B49-A292-F1AC4D5C5976}" presName="spacer" presStyleCnt="0"/>
      <dgm:spPr/>
    </dgm:pt>
    <dgm:pt modelId="{7C9A5E33-2169-44F6-8BDF-8C4BFC2D17FA}" type="pres">
      <dgm:prSet presAssocID="{DC5AA14F-B879-4F24-B669-3B6861CF417F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4AF02A0B-5F7D-4325-BEC7-38AD90BC1D00}" type="presOf" srcId="{780F3E4D-B4D1-430E-817A-AF882A4EC78E}" destId="{987340D8-2AA7-49F9-9D32-63BB07BA317E}" srcOrd="0" destOrd="0" presId="urn:microsoft.com/office/officeart/2005/8/layout/vList2"/>
    <dgm:cxn modelId="{D012091E-FBEC-4916-A497-00D0FD468761}" srcId="{780F3E4D-B4D1-430E-817A-AF882A4EC78E}" destId="{B7FC503D-FB2C-472F-929A-EAC51641F38C}" srcOrd="1" destOrd="0" parTransId="{74F041B0-D6E5-4BED-9426-B58973495FE0}" sibTransId="{85D900D5-62CD-4F8C-B382-96C3C989773A}"/>
    <dgm:cxn modelId="{20462729-0925-4F99-9F39-CAE4E3643495}" type="presOf" srcId="{83FA12A1-B91C-46A6-8B59-D028997F5679}" destId="{03C859E8-84B2-43FF-BC98-B8B8432D8B67}" srcOrd="0" destOrd="0" presId="urn:microsoft.com/office/officeart/2005/8/layout/vList2"/>
    <dgm:cxn modelId="{03F7424A-FF3C-43BC-84B0-975600ED9AAA}" srcId="{780F3E4D-B4D1-430E-817A-AF882A4EC78E}" destId="{40EFAB86-FFD9-458E-B0AB-1491688118BD}" srcOrd="5" destOrd="0" parTransId="{F403E0B2-3F58-41F4-9F8C-736B5B2109A7}" sibTransId="{A5C28D73-37B2-4B49-A292-F1AC4D5C5976}"/>
    <dgm:cxn modelId="{EABD267E-8DF6-48D2-B301-DB72B83B2A3C}" srcId="{780F3E4D-B4D1-430E-817A-AF882A4EC78E}" destId="{DC5AA14F-B879-4F24-B669-3B6861CF417F}" srcOrd="6" destOrd="0" parTransId="{3F058555-B97F-4892-A6FD-1958DDE8EB1F}" sibTransId="{929F192E-932E-4630-8BEC-5247079E331F}"/>
    <dgm:cxn modelId="{30981180-0EFA-419D-9C1C-503E5281521B}" srcId="{780F3E4D-B4D1-430E-817A-AF882A4EC78E}" destId="{50BCD7AE-7A32-4C86-8FB7-BC397F7583FC}" srcOrd="0" destOrd="0" parTransId="{E4E0F7B3-4BAE-4116-A37C-556C2798730D}" sibTransId="{6C8107B8-CB12-4A79-9A22-3C5824954043}"/>
    <dgm:cxn modelId="{77F2D489-EF4A-4AED-A29D-C9065EE977EF}" srcId="{780F3E4D-B4D1-430E-817A-AF882A4EC78E}" destId="{7E818D03-E62A-440C-9887-2F7F55EB73DE}" srcOrd="2" destOrd="0" parTransId="{049566C0-B923-416A-951A-D7BA83C72B47}" sibTransId="{36685AB3-72F4-4BEA-9E8D-2E8C87ED6130}"/>
    <dgm:cxn modelId="{188A1B8B-44EE-4130-85F4-9FFE34119E29}" type="presOf" srcId="{B7FC503D-FB2C-472F-929A-EAC51641F38C}" destId="{01CBC8DA-BCD1-4B0A-AF98-05FB14CC34F9}" srcOrd="0" destOrd="0" presId="urn:microsoft.com/office/officeart/2005/8/layout/vList2"/>
    <dgm:cxn modelId="{7629A88B-2D99-4A46-838D-58F2C4510F73}" srcId="{780F3E4D-B4D1-430E-817A-AF882A4EC78E}" destId="{D67702B0-9211-474D-8D4C-9C5D2B9CE4E4}" srcOrd="4" destOrd="0" parTransId="{72776285-0AF1-49C0-A72F-57B981598649}" sibTransId="{0DBA163B-876F-495C-B001-E952134686C6}"/>
    <dgm:cxn modelId="{A43C3996-E45A-4BBC-B119-D39620D232AA}" type="presOf" srcId="{40EFAB86-FFD9-458E-B0AB-1491688118BD}" destId="{40D25C53-938B-4F40-9CCB-2A6E7F04C956}" srcOrd="0" destOrd="0" presId="urn:microsoft.com/office/officeart/2005/8/layout/vList2"/>
    <dgm:cxn modelId="{4F35C29D-A33E-42E3-95CF-5CB625616BA5}" type="presOf" srcId="{7E818D03-E62A-440C-9887-2F7F55EB73DE}" destId="{74022327-4B5A-4E50-808E-83B94519EBF0}" srcOrd="0" destOrd="0" presId="urn:microsoft.com/office/officeart/2005/8/layout/vList2"/>
    <dgm:cxn modelId="{5F69D9C3-3C3E-4292-962A-6023136E53FF}" type="presOf" srcId="{D67702B0-9211-474D-8D4C-9C5D2B9CE4E4}" destId="{156C03C6-9EA1-41F5-BCB0-2D343D8A1A4D}" srcOrd="0" destOrd="0" presId="urn:microsoft.com/office/officeart/2005/8/layout/vList2"/>
    <dgm:cxn modelId="{0C9A20CB-2A5E-47A9-923E-D4AB1654285E}" type="presOf" srcId="{DC5AA14F-B879-4F24-B669-3B6861CF417F}" destId="{7C9A5E33-2169-44F6-8BDF-8C4BFC2D17FA}" srcOrd="0" destOrd="0" presId="urn:microsoft.com/office/officeart/2005/8/layout/vList2"/>
    <dgm:cxn modelId="{1A7485D6-7E89-4D4E-8DA2-1E0437F2F35A}" type="presOf" srcId="{50BCD7AE-7A32-4C86-8FB7-BC397F7583FC}" destId="{F8E8C356-92CD-49EF-ACC7-FA9A20124221}" srcOrd="0" destOrd="0" presId="urn:microsoft.com/office/officeart/2005/8/layout/vList2"/>
    <dgm:cxn modelId="{2DDF48F3-3506-4967-B076-87B54F46EC24}" srcId="{780F3E4D-B4D1-430E-817A-AF882A4EC78E}" destId="{83FA12A1-B91C-46A6-8B59-D028997F5679}" srcOrd="3" destOrd="0" parTransId="{EB89310F-FF12-4593-A018-EEA8E4853FA2}" sibTransId="{C1E71FB9-976D-4236-AED3-3DB8D60F32BC}"/>
    <dgm:cxn modelId="{FC5F5C1D-57C0-4185-A486-18EF2589C265}" type="presParOf" srcId="{987340D8-2AA7-49F9-9D32-63BB07BA317E}" destId="{F8E8C356-92CD-49EF-ACC7-FA9A20124221}" srcOrd="0" destOrd="0" presId="urn:microsoft.com/office/officeart/2005/8/layout/vList2"/>
    <dgm:cxn modelId="{F866F215-F0A9-4320-8952-16F428F3359E}" type="presParOf" srcId="{987340D8-2AA7-49F9-9D32-63BB07BA317E}" destId="{3885D664-AEFD-426F-B80D-3185D448971D}" srcOrd="1" destOrd="0" presId="urn:microsoft.com/office/officeart/2005/8/layout/vList2"/>
    <dgm:cxn modelId="{1249B111-3BD3-43F0-A456-C085FE512E4D}" type="presParOf" srcId="{987340D8-2AA7-49F9-9D32-63BB07BA317E}" destId="{01CBC8DA-BCD1-4B0A-AF98-05FB14CC34F9}" srcOrd="2" destOrd="0" presId="urn:microsoft.com/office/officeart/2005/8/layout/vList2"/>
    <dgm:cxn modelId="{31AC4D0C-99F9-44C3-8DCA-DFC779E183EC}" type="presParOf" srcId="{987340D8-2AA7-49F9-9D32-63BB07BA317E}" destId="{1E7C0CB1-A5B4-4B56-A2E4-C8464B85D2FC}" srcOrd="3" destOrd="0" presId="urn:microsoft.com/office/officeart/2005/8/layout/vList2"/>
    <dgm:cxn modelId="{4AB5E3C1-C971-47F2-8D7A-9E7BC7ECB9D7}" type="presParOf" srcId="{987340D8-2AA7-49F9-9D32-63BB07BA317E}" destId="{74022327-4B5A-4E50-808E-83B94519EBF0}" srcOrd="4" destOrd="0" presId="urn:microsoft.com/office/officeart/2005/8/layout/vList2"/>
    <dgm:cxn modelId="{A9C90D9A-ED45-4ACB-8461-43773C8A2BCA}" type="presParOf" srcId="{987340D8-2AA7-49F9-9D32-63BB07BA317E}" destId="{C79645E8-A00E-4479-8F4D-BA10FBB6CF2D}" srcOrd="5" destOrd="0" presId="urn:microsoft.com/office/officeart/2005/8/layout/vList2"/>
    <dgm:cxn modelId="{AEC68ABD-D509-4A14-BC1F-5B0DC52EACF2}" type="presParOf" srcId="{987340D8-2AA7-49F9-9D32-63BB07BA317E}" destId="{03C859E8-84B2-43FF-BC98-B8B8432D8B67}" srcOrd="6" destOrd="0" presId="urn:microsoft.com/office/officeart/2005/8/layout/vList2"/>
    <dgm:cxn modelId="{8CEADEC4-309C-425D-9D08-981C29DC131D}" type="presParOf" srcId="{987340D8-2AA7-49F9-9D32-63BB07BA317E}" destId="{294CEF67-3D84-4D14-A28A-09BD33DDDBCE}" srcOrd="7" destOrd="0" presId="urn:microsoft.com/office/officeart/2005/8/layout/vList2"/>
    <dgm:cxn modelId="{796F049F-DF74-453C-A64A-2988867043C7}" type="presParOf" srcId="{987340D8-2AA7-49F9-9D32-63BB07BA317E}" destId="{156C03C6-9EA1-41F5-BCB0-2D343D8A1A4D}" srcOrd="8" destOrd="0" presId="urn:microsoft.com/office/officeart/2005/8/layout/vList2"/>
    <dgm:cxn modelId="{02DED32A-3798-42BC-8017-755BE85C9C52}" type="presParOf" srcId="{987340D8-2AA7-49F9-9D32-63BB07BA317E}" destId="{119E172E-7E87-4C68-93E0-A150AA4347B5}" srcOrd="9" destOrd="0" presId="urn:microsoft.com/office/officeart/2005/8/layout/vList2"/>
    <dgm:cxn modelId="{F830C377-AA7A-4758-80CC-4E74D46ACC8D}" type="presParOf" srcId="{987340D8-2AA7-49F9-9D32-63BB07BA317E}" destId="{40D25C53-938B-4F40-9CCB-2A6E7F04C956}" srcOrd="10" destOrd="0" presId="urn:microsoft.com/office/officeart/2005/8/layout/vList2"/>
    <dgm:cxn modelId="{D9F0C433-A84E-480C-B81C-C57DDDDBF9CA}" type="presParOf" srcId="{987340D8-2AA7-49F9-9D32-63BB07BA317E}" destId="{5BB9B13A-3854-4064-A647-74247661B17F}" srcOrd="11" destOrd="0" presId="urn:microsoft.com/office/officeart/2005/8/layout/vList2"/>
    <dgm:cxn modelId="{2F802976-8A28-4A91-93C6-085E4865DA26}" type="presParOf" srcId="{987340D8-2AA7-49F9-9D32-63BB07BA317E}" destId="{7C9A5E33-2169-44F6-8BDF-8C4BFC2D17FA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0F3E4D-B4D1-430E-817A-AF882A4EC78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BCD7AE-7A32-4C86-8FB7-BC397F7583FC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2800">
              <a:latin typeface="Aptos"/>
            </a:rPr>
            <a:t>Data required intervention to reduce the impact of outliers. </a:t>
          </a:r>
        </a:p>
      </dgm:t>
    </dgm:pt>
    <dgm:pt modelId="{E4E0F7B3-4BAE-4116-A37C-556C2798730D}" type="parTrans" cxnId="{30981180-0EFA-419D-9C1C-503E5281521B}">
      <dgm:prSet/>
      <dgm:spPr/>
      <dgm:t>
        <a:bodyPr/>
        <a:lstStyle/>
        <a:p>
          <a:endParaRPr lang="en-US"/>
        </a:p>
      </dgm:t>
    </dgm:pt>
    <dgm:pt modelId="{6C8107B8-CB12-4A79-9A22-3C5824954043}" type="sibTrans" cxnId="{30981180-0EFA-419D-9C1C-503E5281521B}">
      <dgm:prSet/>
      <dgm:spPr/>
      <dgm:t>
        <a:bodyPr/>
        <a:lstStyle/>
        <a:p>
          <a:endParaRPr lang="en-US"/>
        </a:p>
      </dgm:t>
    </dgm:pt>
    <dgm:pt modelId="{7E818D03-E62A-440C-9887-2F7F55EB73DE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800">
              <a:latin typeface="Aptos"/>
            </a:rPr>
            <a:t>The refactored data was modelled using the additive non-linear Prophet package used for seasonal time series forecasting. </a:t>
          </a:r>
        </a:p>
      </dgm:t>
    </dgm:pt>
    <dgm:pt modelId="{049566C0-B923-416A-951A-D7BA83C72B47}" type="parTrans" cxnId="{77F2D489-EF4A-4AED-A29D-C9065EE977EF}">
      <dgm:prSet/>
      <dgm:spPr/>
      <dgm:t>
        <a:bodyPr/>
        <a:lstStyle/>
        <a:p>
          <a:endParaRPr lang="en-US"/>
        </a:p>
      </dgm:t>
    </dgm:pt>
    <dgm:pt modelId="{36685AB3-72F4-4BEA-9E8D-2E8C87ED6130}" type="sibTrans" cxnId="{77F2D489-EF4A-4AED-A29D-C9065EE977EF}">
      <dgm:prSet/>
      <dgm:spPr/>
      <dgm:t>
        <a:bodyPr/>
        <a:lstStyle/>
        <a:p>
          <a:endParaRPr lang="en-US"/>
        </a:p>
      </dgm:t>
    </dgm:pt>
    <dgm:pt modelId="{40EFAB86-FFD9-458E-B0AB-1491688118BD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800">
              <a:latin typeface="Aptos"/>
            </a:rPr>
            <a:t>The package produced a well fitting forecast which can be used to model headcount. </a:t>
          </a:r>
        </a:p>
      </dgm:t>
    </dgm:pt>
    <dgm:pt modelId="{F403E0B2-3F58-41F4-9F8C-736B5B2109A7}" type="parTrans" cxnId="{03F7424A-FF3C-43BC-84B0-975600ED9AAA}">
      <dgm:prSet/>
      <dgm:spPr/>
      <dgm:t>
        <a:bodyPr/>
        <a:lstStyle/>
        <a:p>
          <a:endParaRPr lang="en-US"/>
        </a:p>
      </dgm:t>
    </dgm:pt>
    <dgm:pt modelId="{A5C28D73-37B2-4B49-A292-F1AC4D5C5976}" type="sibTrans" cxnId="{03F7424A-FF3C-43BC-84B0-975600ED9AAA}">
      <dgm:prSet/>
      <dgm:spPr/>
      <dgm:t>
        <a:bodyPr/>
        <a:lstStyle/>
        <a:p>
          <a:endParaRPr lang="en-US"/>
        </a:p>
      </dgm:t>
    </dgm:pt>
    <dgm:pt modelId="{DC5AA14F-B879-4F24-B669-3B6861CF417F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2800">
              <a:latin typeface="Aptos"/>
            </a:rPr>
            <a:t>Forecasted headcount shows that in most weeks 2 call center agents can manage the workload; however, the need for 3 agents will increase over time. </a:t>
          </a:r>
          <a:endParaRPr lang="en-US"/>
        </a:p>
      </dgm:t>
    </dgm:pt>
    <dgm:pt modelId="{3F058555-B97F-4892-A6FD-1958DDE8EB1F}" type="parTrans" cxnId="{EABD267E-8DF6-48D2-B301-DB72B83B2A3C}">
      <dgm:prSet/>
      <dgm:spPr/>
      <dgm:t>
        <a:bodyPr/>
        <a:lstStyle/>
        <a:p>
          <a:endParaRPr lang="en-US"/>
        </a:p>
      </dgm:t>
    </dgm:pt>
    <dgm:pt modelId="{929F192E-932E-4630-8BEC-5247079E331F}" type="sibTrans" cxnId="{EABD267E-8DF6-48D2-B301-DB72B83B2A3C}">
      <dgm:prSet/>
      <dgm:spPr/>
      <dgm:t>
        <a:bodyPr/>
        <a:lstStyle/>
        <a:p>
          <a:endParaRPr lang="en-US"/>
        </a:p>
      </dgm:t>
    </dgm:pt>
    <dgm:pt modelId="{E3FCD855-D1AD-4115-85B6-C1C2A00503B7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100" dirty="0">
              <a:latin typeface="Calibri"/>
              <a:ea typeface="Calibri"/>
              <a:cs typeface="Calibri"/>
            </a:rPr>
            <a:t>The decomposition yielded a partial trend with a strong weekly cycle as a seasonal pattern. </a:t>
          </a:r>
          <a:endParaRPr lang="en-US" sz="2800" dirty="0">
            <a:latin typeface="Aptos"/>
          </a:endParaRPr>
        </a:p>
      </dgm:t>
    </dgm:pt>
    <dgm:pt modelId="{352C9A69-A30A-4EA3-A906-A201FD3140A8}" type="parTrans" cxnId="{60D667F4-B27A-48E5-B0A8-BF0613CA22F6}">
      <dgm:prSet/>
      <dgm:spPr/>
    </dgm:pt>
    <dgm:pt modelId="{802D3CB1-F786-401C-AE62-3F332AE9B453}" type="sibTrans" cxnId="{60D667F4-B27A-48E5-B0A8-BF0613CA22F6}">
      <dgm:prSet/>
      <dgm:spPr/>
    </dgm:pt>
    <dgm:pt modelId="{987340D8-2AA7-49F9-9D32-63BB07BA317E}" type="pres">
      <dgm:prSet presAssocID="{780F3E4D-B4D1-430E-817A-AF882A4EC78E}" presName="linear" presStyleCnt="0">
        <dgm:presLayoutVars>
          <dgm:animLvl val="lvl"/>
          <dgm:resizeHandles val="exact"/>
        </dgm:presLayoutVars>
      </dgm:prSet>
      <dgm:spPr/>
    </dgm:pt>
    <dgm:pt modelId="{F8E8C356-92CD-49EF-ACC7-FA9A20124221}" type="pres">
      <dgm:prSet presAssocID="{50BCD7AE-7A32-4C86-8FB7-BC397F7583F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885D664-AEFD-426F-B80D-3185D448971D}" type="pres">
      <dgm:prSet presAssocID="{6C8107B8-CB12-4A79-9A22-3C5824954043}" presName="spacer" presStyleCnt="0"/>
      <dgm:spPr/>
    </dgm:pt>
    <dgm:pt modelId="{7ACE4484-064C-44C3-8A63-1EDF383AD887}" type="pres">
      <dgm:prSet presAssocID="{E3FCD855-D1AD-4115-85B6-C1C2A00503B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23E289E-B090-460C-A4DE-14242D6D54EB}" type="pres">
      <dgm:prSet presAssocID="{802D3CB1-F786-401C-AE62-3F332AE9B453}" presName="spacer" presStyleCnt="0"/>
      <dgm:spPr/>
    </dgm:pt>
    <dgm:pt modelId="{74022327-4B5A-4E50-808E-83B94519EBF0}" type="pres">
      <dgm:prSet presAssocID="{7E818D03-E62A-440C-9887-2F7F55EB73D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79645E8-A00E-4479-8F4D-BA10FBB6CF2D}" type="pres">
      <dgm:prSet presAssocID="{36685AB3-72F4-4BEA-9E8D-2E8C87ED6130}" presName="spacer" presStyleCnt="0"/>
      <dgm:spPr/>
    </dgm:pt>
    <dgm:pt modelId="{40D25C53-938B-4F40-9CCB-2A6E7F04C956}" type="pres">
      <dgm:prSet presAssocID="{40EFAB86-FFD9-458E-B0AB-1491688118B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BB9B13A-3854-4064-A647-74247661B17F}" type="pres">
      <dgm:prSet presAssocID="{A5C28D73-37B2-4B49-A292-F1AC4D5C5976}" presName="spacer" presStyleCnt="0"/>
      <dgm:spPr/>
    </dgm:pt>
    <dgm:pt modelId="{7C9A5E33-2169-44F6-8BDF-8C4BFC2D17FA}" type="pres">
      <dgm:prSet presAssocID="{DC5AA14F-B879-4F24-B669-3B6861CF417F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AF02A0B-5F7D-4325-BEC7-38AD90BC1D00}" type="presOf" srcId="{780F3E4D-B4D1-430E-817A-AF882A4EC78E}" destId="{987340D8-2AA7-49F9-9D32-63BB07BA317E}" srcOrd="0" destOrd="0" presId="urn:microsoft.com/office/officeart/2005/8/layout/vList2"/>
    <dgm:cxn modelId="{5B343E26-5B5E-4A87-9F63-713406E1C76F}" type="presOf" srcId="{E3FCD855-D1AD-4115-85B6-C1C2A00503B7}" destId="{7ACE4484-064C-44C3-8A63-1EDF383AD887}" srcOrd="0" destOrd="0" presId="urn:microsoft.com/office/officeart/2005/8/layout/vList2"/>
    <dgm:cxn modelId="{03F7424A-FF3C-43BC-84B0-975600ED9AAA}" srcId="{780F3E4D-B4D1-430E-817A-AF882A4EC78E}" destId="{40EFAB86-FFD9-458E-B0AB-1491688118BD}" srcOrd="3" destOrd="0" parTransId="{F403E0B2-3F58-41F4-9F8C-736B5B2109A7}" sibTransId="{A5C28D73-37B2-4B49-A292-F1AC4D5C5976}"/>
    <dgm:cxn modelId="{C11A116F-E0F6-4113-88DD-110B9C4CD9DA}" type="presOf" srcId="{7E818D03-E62A-440C-9887-2F7F55EB73DE}" destId="{74022327-4B5A-4E50-808E-83B94519EBF0}" srcOrd="0" destOrd="0" presId="urn:microsoft.com/office/officeart/2005/8/layout/vList2"/>
    <dgm:cxn modelId="{322A197B-8C2A-44BE-87AF-B3BB5B324161}" type="presOf" srcId="{50BCD7AE-7A32-4C86-8FB7-BC397F7583FC}" destId="{F8E8C356-92CD-49EF-ACC7-FA9A20124221}" srcOrd="0" destOrd="0" presId="urn:microsoft.com/office/officeart/2005/8/layout/vList2"/>
    <dgm:cxn modelId="{EABD267E-8DF6-48D2-B301-DB72B83B2A3C}" srcId="{780F3E4D-B4D1-430E-817A-AF882A4EC78E}" destId="{DC5AA14F-B879-4F24-B669-3B6861CF417F}" srcOrd="4" destOrd="0" parTransId="{3F058555-B97F-4892-A6FD-1958DDE8EB1F}" sibTransId="{929F192E-932E-4630-8BEC-5247079E331F}"/>
    <dgm:cxn modelId="{30981180-0EFA-419D-9C1C-503E5281521B}" srcId="{780F3E4D-B4D1-430E-817A-AF882A4EC78E}" destId="{50BCD7AE-7A32-4C86-8FB7-BC397F7583FC}" srcOrd="0" destOrd="0" parTransId="{E4E0F7B3-4BAE-4116-A37C-556C2798730D}" sibTransId="{6C8107B8-CB12-4A79-9A22-3C5824954043}"/>
    <dgm:cxn modelId="{77F2D489-EF4A-4AED-A29D-C9065EE977EF}" srcId="{780F3E4D-B4D1-430E-817A-AF882A4EC78E}" destId="{7E818D03-E62A-440C-9887-2F7F55EB73DE}" srcOrd="2" destOrd="0" parTransId="{049566C0-B923-416A-951A-D7BA83C72B47}" sibTransId="{36685AB3-72F4-4BEA-9E8D-2E8C87ED6130}"/>
    <dgm:cxn modelId="{A6558CE2-4181-42DA-848E-07BF9D925C67}" type="presOf" srcId="{DC5AA14F-B879-4F24-B669-3B6861CF417F}" destId="{7C9A5E33-2169-44F6-8BDF-8C4BFC2D17FA}" srcOrd="0" destOrd="0" presId="urn:microsoft.com/office/officeart/2005/8/layout/vList2"/>
    <dgm:cxn modelId="{4EE5AAF1-31B3-4286-96EC-45795CFC33D7}" type="presOf" srcId="{40EFAB86-FFD9-458E-B0AB-1491688118BD}" destId="{40D25C53-938B-4F40-9CCB-2A6E7F04C956}" srcOrd="0" destOrd="0" presId="urn:microsoft.com/office/officeart/2005/8/layout/vList2"/>
    <dgm:cxn modelId="{60D667F4-B27A-48E5-B0A8-BF0613CA22F6}" srcId="{780F3E4D-B4D1-430E-817A-AF882A4EC78E}" destId="{E3FCD855-D1AD-4115-85B6-C1C2A00503B7}" srcOrd="1" destOrd="0" parTransId="{352C9A69-A30A-4EA3-A906-A201FD3140A8}" sibTransId="{802D3CB1-F786-401C-AE62-3F332AE9B453}"/>
    <dgm:cxn modelId="{B2369C6D-641B-442F-A06D-11D879227D5B}" type="presParOf" srcId="{987340D8-2AA7-49F9-9D32-63BB07BA317E}" destId="{F8E8C356-92CD-49EF-ACC7-FA9A20124221}" srcOrd="0" destOrd="0" presId="urn:microsoft.com/office/officeart/2005/8/layout/vList2"/>
    <dgm:cxn modelId="{DC75303B-FB05-4CD9-A679-9B99539A65DC}" type="presParOf" srcId="{987340D8-2AA7-49F9-9D32-63BB07BA317E}" destId="{3885D664-AEFD-426F-B80D-3185D448971D}" srcOrd="1" destOrd="0" presId="urn:microsoft.com/office/officeart/2005/8/layout/vList2"/>
    <dgm:cxn modelId="{A8E602BB-94E0-4957-9799-D8B50C39EA0E}" type="presParOf" srcId="{987340D8-2AA7-49F9-9D32-63BB07BA317E}" destId="{7ACE4484-064C-44C3-8A63-1EDF383AD887}" srcOrd="2" destOrd="0" presId="urn:microsoft.com/office/officeart/2005/8/layout/vList2"/>
    <dgm:cxn modelId="{CD1FD20C-1F9D-4764-AFBC-23FAC21FEAC3}" type="presParOf" srcId="{987340D8-2AA7-49F9-9D32-63BB07BA317E}" destId="{423E289E-B090-460C-A4DE-14242D6D54EB}" srcOrd="3" destOrd="0" presId="urn:microsoft.com/office/officeart/2005/8/layout/vList2"/>
    <dgm:cxn modelId="{F2B42947-59B3-449C-B9B8-335EB8A7A73D}" type="presParOf" srcId="{987340D8-2AA7-49F9-9D32-63BB07BA317E}" destId="{74022327-4B5A-4E50-808E-83B94519EBF0}" srcOrd="4" destOrd="0" presId="urn:microsoft.com/office/officeart/2005/8/layout/vList2"/>
    <dgm:cxn modelId="{53FD74A3-A745-4F6E-9907-F64A895E15BA}" type="presParOf" srcId="{987340D8-2AA7-49F9-9D32-63BB07BA317E}" destId="{C79645E8-A00E-4479-8F4D-BA10FBB6CF2D}" srcOrd="5" destOrd="0" presId="urn:microsoft.com/office/officeart/2005/8/layout/vList2"/>
    <dgm:cxn modelId="{61F6B3FD-5ADE-4C15-91B2-C1C8F281625F}" type="presParOf" srcId="{987340D8-2AA7-49F9-9D32-63BB07BA317E}" destId="{40D25C53-938B-4F40-9CCB-2A6E7F04C956}" srcOrd="6" destOrd="0" presId="urn:microsoft.com/office/officeart/2005/8/layout/vList2"/>
    <dgm:cxn modelId="{2F2C6AFD-F6CD-49ED-BEB4-7CE72C09936A}" type="presParOf" srcId="{987340D8-2AA7-49F9-9D32-63BB07BA317E}" destId="{5BB9B13A-3854-4064-A647-74247661B17F}" srcOrd="7" destOrd="0" presId="urn:microsoft.com/office/officeart/2005/8/layout/vList2"/>
    <dgm:cxn modelId="{0F383532-FABC-4251-8BD5-A03FF6582AFB}" type="presParOf" srcId="{987340D8-2AA7-49F9-9D32-63BB07BA317E}" destId="{7C9A5E33-2169-44F6-8BDF-8C4BFC2D17F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8C356-92CD-49EF-ACC7-FA9A20124221}">
      <dsp:nvSpPr>
        <dsp:cNvPr id="0" name=""/>
        <dsp:cNvSpPr/>
      </dsp:nvSpPr>
      <dsp:spPr>
        <a:xfrm>
          <a:off x="0" y="356878"/>
          <a:ext cx="10515600" cy="4668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One to two agents at call center, with a potential part time agent. </a:t>
          </a:r>
        </a:p>
      </dsp:txBody>
      <dsp:txXfrm>
        <a:off x="22789" y="379667"/>
        <a:ext cx="10470022" cy="421252"/>
      </dsp:txXfrm>
    </dsp:sp>
    <dsp:sp modelId="{01CBC8DA-BCD1-4B0A-AF98-05FB14CC34F9}">
      <dsp:nvSpPr>
        <dsp:cNvPr id="0" name=""/>
        <dsp:cNvSpPr/>
      </dsp:nvSpPr>
      <dsp:spPr>
        <a:xfrm>
          <a:off x="0" y="878428"/>
          <a:ext cx="10515600" cy="4668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Industry standard work day of a hours with 80</a:t>
          </a:r>
          <a:r>
            <a:rPr lang="en-US" sz="1900" kern="1200">
              <a:latin typeface="Aptos Display" panose="020F0302020204030204"/>
            </a:rPr>
            <a:t>%</a:t>
          </a:r>
          <a:r>
            <a:rPr lang="en-US" sz="1900" kern="1200"/>
            <a:t> occupancy results in </a:t>
          </a:r>
          <a:r>
            <a:rPr lang="en-US" sz="1900" kern="1200">
              <a:latin typeface="Aptos Display" panose="020F0302020204030204"/>
            </a:rPr>
            <a:t>384 workload</a:t>
          </a:r>
          <a:r>
            <a:rPr lang="en-US" sz="1900" kern="1200"/>
            <a:t> minutes per day.</a:t>
          </a:r>
        </a:p>
      </dsp:txBody>
      <dsp:txXfrm>
        <a:off x="22789" y="901217"/>
        <a:ext cx="10470022" cy="421252"/>
      </dsp:txXfrm>
    </dsp:sp>
    <dsp:sp modelId="{74022327-4B5A-4E50-808E-83B94519EBF0}">
      <dsp:nvSpPr>
        <dsp:cNvPr id="0" name=""/>
        <dsp:cNvSpPr/>
      </dsp:nvSpPr>
      <dsp:spPr>
        <a:xfrm>
          <a:off x="0" y="1399978"/>
          <a:ext cx="10515600" cy="4668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Work week from Monday to Sunday. </a:t>
          </a:r>
        </a:p>
      </dsp:txBody>
      <dsp:txXfrm>
        <a:off x="22789" y="1422767"/>
        <a:ext cx="10470022" cy="421252"/>
      </dsp:txXfrm>
    </dsp:sp>
    <dsp:sp modelId="{03C859E8-84B2-43FF-BC98-B8B8432D8B67}">
      <dsp:nvSpPr>
        <dsp:cNvPr id="0" name=""/>
        <dsp:cNvSpPr/>
      </dsp:nvSpPr>
      <dsp:spPr>
        <a:xfrm>
          <a:off x="0" y="1921529"/>
          <a:ext cx="10515600" cy="4668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Sunday has limited work time creating a cyclical pattern for weeks.</a:t>
          </a:r>
        </a:p>
      </dsp:txBody>
      <dsp:txXfrm>
        <a:off x="22789" y="1944318"/>
        <a:ext cx="10470022" cy="421252"/>
      </dsp:txXfrm>
    </dsp:sp>
    <dsp:sp modelId="{156C03C6-9EA1-41F5-BCB0-2D343D8A1A4D}">
      <dsp:nvSpPr>
        <dsp:cNvPr id="0" name=""/>
        <dsp:cNvSpPr/>
      </dsp:nvSpPr>
      <dsp:spPr>
        <a:xfrm>
          <a:off x="0" y="2443079"/>
          <a:ext cx="10515600" cy="4668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Monthly or yearly cyclical pattern not evident.</a:t>
          </a:r>
        </a:p>
      </dsp:txBody>
      <dsp:txXfrm>
        <a:off x="22789" y="2465868"/>
        <a:ext cx="10470022" cy="421252"/>
      </dsp:txXfrm>
    </dsp:sp>
    <dsp:sp modelId="{40D25C53-938B-4F40-9CCB-2A6E7F04C956}">
      <dsp:nvSpPr>
        <dsp:cNvPr id="0" name=""/>
        <dsp:cNvSpPr/>
      </dsp:nvSpPr>
      <dsp:spPr>
        <a:xfrm>
          <a:off x="0" y="2964629"/>
          <a:ext cx="10515600" cy="4668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Complete records until May 2023.</a:t>
          </a:r>
        </a:p>
      </dsp:txBody>
      <dsp:txXfrm>
        <a:off x="22789" y="2987418"/>
        <a:ext cx="10470022" cy="421252"/>
      </dsp:txXfrm>
    </dsp:sp>
    <dsp:sp modelId="{7C9A5E33-2169-44F6-8BDF-8C4BFC2D17FA}">
      <dsp:nvSpPr>
        <dsp:cNvPr id="0" name=""/>
        <dsp:cNvSpPr/>
      </dsp:nvSpPr>
      <dsp:spPr>
        <a:xfrm>
          <a:off x="0" y="3486179"/>
          <a:ext cx="10515600" cy="46683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External event creating increased demand in the first half of 2022.</a:t>
          </a:r>
        </a:p>
      </dsp:txBody>
      <dsp:txXfrm>
        <a:off x="22789" y="3508968"/>
        <a:ext cx="10470022" cy="4212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8C356-92CD-49EF-ACC7-FA9A20124221}">
      <dsp:nvSpPr>
        <dsp:cNvPr id="0" name=""/>
        <dsp:cNvSpPr/>
      </dsp:nvSpPr>
      <dsp:spPr>
        <a:xfrm>
          <a:off x="0" y="43431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"/>
            </a:rPr>
            <a:t>Data required intervention to reduce the impact of outliers. </a:t>
          </a:r>
        </a:p>
      </dsp:txBody>
      <dsp:txXfrm>
        <a:off x="38981" y="82412"/>
        <a:ext cx="10437638" cy="720563"/>
      </dsp:txXfrm>
    </dsp:sp>
    <dsp:sp modelId="{7ACE4484-064C-44C3-8A63-1EDF383AD887}">
      <dsp:nvSpPr>
        <dsp:cNvPr id="0" name=""/>
        <dsp:cNvSpPr/>
      </dsp:nvSpPr>
      <dsp:spPr>
        <a:xfrm>
          <a:off x="0" y="899556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libri"/>
              <a:ea typeface="Calibri"/>
              <a:cs typeface="Calibri"/>
            </a:rPr>
            <a:t>The decomposition yielded a partial trend with a strong weekly cycle as a seasonal pattern. </a:t>
          </a:r>
          <a:endParaRPr lang="en-US" sz="2000" kern="1200" dirty="0">
            <a:latin typeface="Aptos"/>
          </a:endParaRPr>
        </a:p>
      </dsp:txBody>
      <dsp:txXfrm>
        <a:off x="38981" y="938537"/>
        <a:ext cx="10437638" cy="720563"/>
      </dsp:txXfrm>
    </dsp:sp>
    <dsp:sp modelId="{74022327-4B5A-4E50-808E-83B94519EBF0}">
      <dsp:nvSpPr>
        <dsp:cNvPr id="0" name=""/>
        <dsp:cNvSpPr/>
      </dsp:nvSpPr>
      <dsp:spPr>
        <a:xfrm>
          <a:off x="0" y="1755681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"/>
            </a:rPr>
            <a:t>The refactored data was modelled using the additive non-linear Prophet package used for seasonal time series forecasting. </a:t>
          </a:r>
        </a:p>
      </dsp:txBody>
      <dsp:txXfrm>
        <a:off x="38981" y="1794662"/>
        <a:ext cx="10437638" cy="720563"/>
      </dsp:txXfrm>
    </dsp:sp>
    <dsp:sp modelId="{40D25C53-938B-4F40-9CCB-2A6E7F04C956}">
      <dsp:nvSpPr>
        <dsp:cNvPr id="0" name=""/>
        <dsp:cNvSpPr/>
      </dsp:nvSpPr>
      <dsp:spPr>
        <a:xfrm>
          <a:off x="0" y="2611806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"/>
            </a:rPr>
            <a:t>The package produced a well fitting forecast which can be used to model headcount. </a:t>
          </a:r>
        </a:p>
      </dsp:txBody>
      <dsp:txXfrm>
        <a:off x="38981" y="2650787"/>
        <a:ext cx="10437638" cy="720563"/>
      </dsp:txXfrm>
    </dsp:sp>
    <dsp:sp modelId="{7C9A5E33-2169-44F6-8BDF-8C4BFC2D17FA}">
      <dsp:nvSpPr>
        <dsp:cNvPr id="0" name=""/>
        <dsp:cNvSpPr/>
      </dsp:nvSpPr>
      <dsp:spPr>
        <a:xfrm>
          <a:off x="0" y="3467931"/>
          <a:ext cx="10515600" cy="7985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Aptos"/>
            </a:rPr>
            <a:t>Forecasted headcount shows that in most weeks 2 call center agents can manage the workload; however, the need for 3 agents will increase over time. </a:t>
          </a:r>
          <a:endParaRPr lang="en-US" sz="2000" kern="1200"/>
        </a:p>
      </dsp:txBody>
      <dsp:txXfrm>
        <a:off x="38981" y="3506912"/>
        <a:ext cx="10437638" cy="7205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sv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2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Call Center Investigation</a:t>
            </a:r>
          </a:p>
        </p:txBody>
      </p:sp>
      <p:pic>
        <p:nvPicPr>
          <p:cNvPr id="6" name="Graphic 5" descr="Telemarketer">
            <a:extLst>
              <a:ext uri="{FF2B5EF4-FFF2-40B4-BE49-F238E27FC236}">
                <a16:creationId xmlns:a16="http://schemas.microsoft.com/office/drawing/2014/main" id="{4DE70A7E-FF4D-D90E-9B97-AD7ACD01DA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E335C-24D7-4486-BB12-5399B1F94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5FBE4CA9-4617-E536-C79D-6FAB6B674E63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94A1D9-6457-A974-8B2D-92AD3203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1D5C8-3C02-8ABB-061E-8628C58298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solidFill>
                  <a:schemeClr val="accent3"/>
                </a:solidFill>
              </a:rPr>
              <a:t>Understanding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Data Scrubbing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Data Description 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Summary of Insights</a:t>
            </a:r>
          </a:p>
          <a:p>
            <a:r>
              <a:rPr lang="en-US">
                <a:solidFill>
                  <a:schemeClr val="accent1"/>
                </a:solidFill>
              </a:rPr>
              <a:t>Modelling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Forecast Preparation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Time Series Decomposition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Time Series Forecast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Exploring the Impact on Headcount (FTE)</a:t>
            </a:r>
          </a:p>
          <a:p>
            <a:r>
              <a:rPr lang="en-US"/>
              <a:t>Solutions to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Options Available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Cost per Option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Recommendations</a:t>
            </a:r>
          </a:p>
          <a:p>
            <a:endParaRPr lang="en-US"/>
          </a:p>
        </p:txBody>
      </p:sp>
      <p:pic>
        <p:nvPicPr>
          <p:cNvPr id="4" name="Graphic 3" descr="Head with gears with solid fill">
            <a:extLst>
              <a:ext uri="{FF2B5EF4-FFF2-40B4-BE49-F238E27FC236}">
                <a16:creationId xmlns:a16="http://schemas.microsoft.com/office/drawing/2014/main" id="{6A9233A7-57CC-7983-8DCD-ED740C253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6927" y="2971800"/>
            <a:ext cx="914400" cy="914400"/>
          </a:xfrm>
          <a:prstGeom prst="rect">
            <a:avLst/>
          </a:prstGeom>
        </p:spPr>
      </p:pic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D0F581B2-D8E5-AA4A-A322-F64B981E4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1257" y="1369002"/>
            <a:ext cx="914400" cy="914400"/>
          </a:xfrm>
          <a:prstGeom prst="rect">
            <a:avLst/>
          </a:prstGeom>
        </p:spPr>
      </p:pic>
      <p:pic>
        <p:nvPicPr>
          <p:cNvPr id="6" name="Graphic 5" descr="Lightbulb and gear with solid fill">
            <a:extLst>
              <a:ext uri="{FF2B5EF4-FFF2-40B4-BE49-F238E27FC236}">
                <a16:creationId xmlns:a16="http://schemas.microsoft.com/office/drawing/2014/main" id="{99FF06FE-9B87-71B9-A6C3-4A4C330E94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8659" y="4663786"/>
            <a:ext cx="914400" cy="914400"/>
          </a:xfrm>
          <a:prstGeom prst="rect">
            <a:avLst/>
          </a:prstGeom>
        </p:spPr>
      </p:pic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B13A77C5-1AE7-BA62-641A-BC48980DC5C1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Telemarketer">
            <a:extLst>
              <a:ext uri="{FF2B5EF4-FFF2-40B4-BE49-F238E27FC236}">
                <a16:creationId xmlns:a16="http://schemas.microsoft.com/office/drawing/2014/main" id="{87FB840D-1AC1-1584-62EE-2FC379D68E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27536" y="41483"/>
            <a:ext cx="1662137" cy="1655892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59742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C6F423A-97AB-4874-4A66-53409A1AF831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AFFCD47-57E4-E3F5-3E4F-8156078D4846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C18C7-B0AB-8915-C049-03AE95EAE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Data Description – Raw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A9AE6-E236-29E9-7E48-2E2F56FA9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971" y="5785525"/>
            <a:ext cx="7225031" cy="884864"/>
          </a:xfr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Kaggle Link: https://www.kaggle.com/datasets/satvicoder/call-center-data</a:t>
            </a:r>
            <a:endParaRPr lang="en-US"/>
          </a:p>
        </p:txBody>
      </p:sp>
      <p:pic>
        <p:nvPicPr>
          <p:cNvPr id="5" name="Picture 4" descr="A screenshot of a table&#10;&#10;AI-generated content may be incorrect.">
            <a:extLst>
              <a:ext uri="{FF2B5EF4-FFF2-40B4-BE49-F238E27FC236}">
                <a16:creationId xmlns:a16="http://schemas.microsoft.com/office/drawing/2014/main" id="{424C822B-F70A-887A-5194-1BEBFDD87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709" y="1904844"/>
            <a:ext cx="7221044" cy="377283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3581E1B-DED0-B170-A932-FAF6269D5C5B}"/>
              </a:ext>
            </a:extLst>
          </p:cNvPr>
          <p:cNvSpPr txBox="1">
            <a:spLocks/>
          </p:cNvSpPr>
          <p:nvPr/>
        </p:nvSpPr>
        <p:spPr>
          <a:xfrm>
            <a:off x="687844" y="1903187"/>
            <a:ext cx="3857469" cy="37755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Initial Inspection:</a:t>
            </a:r>
          </a:p>
          <a:p>
            <a:pPr marL="457200" indent="-457200"/>
            <a:r>
              <a:rPr lang="en-US"/>
              <a:t>Data provides key call center metrics. </a:t>
            </a:r>
          </a:p>
          <a:p>
            <a:pPr marL="457200" indent="-457200"/>
            <a:r>
              <a:rPr lang="en-US"/>
              <a:t>Index is column is used to put the data in sequence. </a:t>
            </a:r>
          </a:p>
        </p:txBody>
      </p:sp>
      <p:pic>
        <p:nvPicPr>
          <p:cNvPr id="6" name="Graphic 5" descr="Single gear with solid fill">
            <a:extLst>
              <a:ext uri="{FF2B5EF4-FFF2-40B4-BE49-F238E27FC236}">
                <a16:creationId xmlns:a16="http://schemas.microsoft.com/office/drawing/2014/main" id="{FA396DA1-CFC7-D621-B2B1-3FF52A931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8748" y="4476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20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5F943-40AD-4A37-EAEA-A6BACDF9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3A6618CF-CE63-4931-FBEB-9F26B2E0CE7D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E5F8D25-300B-5C18-E395-0C3CC5D1B29C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7AA8F5-8E32-30C0-20D4-CEE188F85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Data Description – Enriched Data</a:t>
            </a:r>
          </a:p>
        </p:txBody>
      </p:sp>
      <p:pic>
        <p:nvPicPr>
          <p:cNvPr id="4" name="Graphic 3" descr="Single gear with solid fill">
            <a:extLst>
              <a:ext uri="{FF2B5EF4-FFF2-40B4-BE49-F238E27FC236}">
                <a16:creationId xmlns:a16="http://schemas.microsoft.com/office/drawing/2014/main" id="{91673376-5E09-70BD-4507-5B8CBDBEC4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8748" y="447675"/>
            <a:ext cx="914400" cy="91440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4E6C1AE-BF9C-66C5-0093-ECB6BAD40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429799"/>
              </p:ext>
            </p:extLst>
          </p:nvPr>
        </p:nvGraphicFramePr>
        <p:xfrm>
          <a:off x="836118" y="1366212"/>
          <a:ext cx="7721600" cy="349948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4117765755"/>
                    </a:ext>
                  </a:extLst>
                </a:gridCol>
                <a:gridCol w="5016500">
                  <a:extLst>
                    <a:ext uri="{9D8B030D-6E8A-4147-A177-3AD203B41FA5}">
                      <a16:colId xmlns:a16="http://schemas.microsoft.com/office/drawing/2014/main" val="3272138755"/>
                    </a:ext>
                  </a:extLst>
                </a:gridCol>
              </a:tblGrid>
              <a:tr h="200025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>
                          <a:effectLst/>
                          <a:latin typeface="Calibri"/>
                        </a:rPr>
                        <a:t>Enrich data with the following calculated fields: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05498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Date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</a:rPr>
                        <a:t>Calendar date taking 1 January as the start date.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45256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Day of Week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</a:rPr>
                        <a:t>Day of the week based on incoming call volume pattern per day.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13674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Month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</a:rPr>
                        <a:t>Month based on date.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32886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Week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</a:rPr>
                        <a:t>Week of the year in integer format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40111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Day of Month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</a:rPr>
                        <a:t>Day of the month in integer format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08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Actual Workload Hours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</a:rPr>
                        <a:t>Average Talk Duration x Answered Calls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32171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Actual Workload Minutes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</a:rPr>
                        <a:t>Actual Workload Hours x 60 minutes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275975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Required Workload Hours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</a:rPr>
                        <a:t>Average Talk Duration x Incoming Calls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050756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Aptos"/>
                        </a:rPr>
                        <a:t>Required Workload Minutes</a:t>
                      </a:r>
                      <a:endParaRPr lang="en-US" sz="12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</a:rPr>
                        <a:t>Required Workload Hours x 60 minutes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17853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Actual Headcount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</a:rPr>
                        <a:t>Actual workload minutes / 384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33718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Required Headcount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</a:rPr>
                        <a:t>Required Workload Minutes / 384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39247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Aptos" panose="020B0004020202020204" pitchFamily="34" charset="0"/>
                        </a:rPr>
                        <a:t>Staff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>
                          <a:effectLst/>
                          <a:latin typeface="Calibri" panose="020F0502020204030204" pitchFamily="34" charset="0"/>
                        </a:rPr>
                        <a:t>Minimum one staff per day, otherwise rounded up for Actual Headcount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6390775"/>
                  </a:ext>
                </a:extLst>
              </a:tr>
            </a:tbl>
          </a:graphicData>
        </a:graphic>
      </p:graphicFrame>
      <p:pic>
        <p:nvPicPr>
          <p:cNvPr id="17" name="Picture 16" descr="A screenshot of a table&#10;&#10;AI-generated content may be incorrect.">
            <a:extLst>
              <a:ext uri="{FF2B5EF4-FFF2-40B4-BE49-F238E27FC236}">
                <a16:creationId xmlns:a16="http://schemas.microsoft.com/office/drawing/2014/main" id="{B6D424DF-4CBD-4F0E-CC78-30B13D9F40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377" y="5011088"/>
            <a:ext cx="11829738" cy="1545233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0077405-5C4A-1BB2-F9E2-A25F8809FAD1}"/>
              </a:ext>
            </a:extLst>
          </p:cNvPr>
          <p:cNvCxnSpPr/>
          <p:nvPr/>
        </p:nvCxnSpPr>
        <p:spPr>
          <a:xfrm flipH="1">
            <a:off x="382135" y="2330289"/>
            <a:ext cx="153422" cy="25957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EAE0F81F-30C6-B780-E824-E9737117C415}"/>
              </a:ext>
            </a:extLst>
          </p:cNvPr>
          <p:cNvSpPr/>
          <p:nvPr/>
        </p:nvSpPr>
        <p:spPr>
          <a:xfrm>
            <a:off x="630955" y="1709346"/>
            <a:ext cx="160594" cy="123294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2DA759FF-7AA9-EECD-48C5-7B7DA7C03219}"/>
              </a:ext>
            </a:extLst>
          </p:cNvPr>
          <p:cNvSpPr/>
          <p:nvPr/>
        </p:nvSpPr>
        <p:spPr>
          <a:xfrm rot="10800000">
            <a:off x="8613217" y="2996001"/>
            <a:ext cx="135611" cy="1838792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064A1C-9F82-6B5B-9C41-959B5142EDED}"/>
              </a:ext>
            </a:extLst>
          </p:cNvPr>
          <p:cNvCxnSpPr>
            <a:cxnSpLocks/>
          </p:cNvCxnSpPr>
          <p:nvPr/>
        </p:nvCxnSpPr>
        <p:spPr>
          <a:xfrm>
            <a:off x="8867589" y="3766846"/>
            <a:ext cx="770971" cy="12216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03A0C03-4926-0404-CF88-FAA8FE05C278}"/>
              </a:ext>
            </a:extLst>
          </p:cNvPr>
          <p:cNvSpPr/>
          <p:nvPr/>
        </p:nvSpPr>
        <p:spPr>
          <a:xfrm>
            <a:off x="9028652" y="1696223"/>
            <a:ext cx="2786353" cy="2222288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accent3"/>
                </a:solidFill>
              </a:rPr>
              <a:t>Calendar date obtained by assuming January 1 start date and finding the closest </a:t>
            </a:r>
            <a:r>
              <a:rPr lang="en-US">
                <a:solidFill>
                  <a:schemeClr val="accent3"/>
                </a:solidFill>
              </a:rPr>
              <a:t>January 1st Wednesday after posting of the data set.</a:t>
            </a:r>
          </a:p>
        </p:txBody>
      </p:sp>
    </p:spTree>
    <p:extLst>
      <p:ext uri="{BB962C8B-B14F-4D97-AF65-F5344CB8AC3E}">
        <p14:creationId xmlns:p14="http://schemas.microsoft.com/office/powerpoint/2010/main" val="4122661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F6D0143B-A931-C090-07AD-02E299759DDB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ED77BED-B1CB-935A-D5F9-F2082C1AA90F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5C1BC-F8ED-C8F3-A558-F281ADAB8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Seasonal Patterns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18950B9-5FAA-8C33-D1FD-3389D1A4463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3104207"/>
              </p:ext>
            </p:extLst>
          </p:nvPr>
        </p:nvGraphicFramePr>
        <p:xfrm>
          <a:off x="836998" y="1485721"/>
          <a:ext cx="5257533" cy="2656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EED10C2B-27DB-B77C-D9F8-E6BC802A77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4712759"/>
              </p:ext>
            </p:extLst>
          </p:nvPr>
        </p:nvGraphicFramePr>
        <p:xfrm>
          <a:off x="6089458" y="1483005"/>
          <a:ext cx="5263942" cy="26551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F602BC65-68BF-4459-6674-F1A27E633F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4715956"/>
              </p:ext>
            </p:extLst>
          </p:nvPr>
        </p:nvGraphicFramePr>
        <p:xfrm>
          <a:off x="6088671" y="4140927"/>
          <a:ext cx="5265901" cy="24525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1CD476-01AF-EA54-55B7-2CE858606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259" y="4216102"/>
            <a:ext cx="5153892" cy="2453378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/>
              <a:t>Insights from initial pattern analysis:</a:t>
            </a:r>
          </a:p>
          <a:p>
            <a:pPr marL="514350" indent="-514350">
              <a:buAutoNum type="arabicPeriod"/>
            </a:pPr>
            <a:r>
              <a:rPr lang="en-US" b="1"/>
              <a:t>Weekly </a:t>
            </a:r>
            <a:r>
              <a:rPr lang="en-US"/>
              <a:t>pattern with reduced call volume on Sunday. </a:t>
            </a:r>
          </a:p>
          <a:p>
            <a:pPr marL="514350" indent="-514350">
              <a:buAutoNum type="arabicPeriod"/>
            </a:pPr>
            <a:r>
              <a:rPr lang="en-US" b="1"/>
              <a:t>Monthly </a:t>
            </a:r>
            <a:r>
              <a:rPr lang="en-US"/>
              <a:t>pattern shows no clear month end spikes in volume. </a:t>
            </a:r>
          </a:p>
          <a:p>
            <a:pPr marL="514350" indent="-514350">
              <a:buAutoNum type="arabicPeriod"/>
            </a:pPr>
            <a:r>
              <a:rPr lang="en-US" b="1"/>
              <a:t>Yearly </a:t>
            </a:r>
            <a:r>
              <a:rPr lang="en-US"/>
              <a:t>pattern shows no clear spikes in demand at any predictable points. 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/>
              <a:t>Key Observation:</a:t>
            </a:r>
            <a:r>
              <a:rPr lang="en-US"/>
              <a:t> There is a large spike in April 2022, this signals potential external shock resulting in large volumes of calls.</a:t>
            </a:r>
          </a:p>
        </p:txBody>
      </p:sp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ACEFBE82-213A-4F0D-B013-998BB4262D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08748" y="447675"/>
            <a:ext cx="914400" cy="9144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F734A3-77A8-8E2E-CCCD-24E543D51E2C}"/>
              </a:ext>
            </a:extLst>
          </p:cNvPr>
          <p:cNvSpPr/>
          <p:nvPr/>
        </p:nvSpPr>
        <p:spPr>
          <a:xfrm rot="1680000">
            <a:off x="5013816" y="1750846"/>
            <a:ext cx="997527" cy="367145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accent3"/>
                </a:solidFill>
              </a:rPr>
              <a:t>Weekly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CD8767-5C1B-8C06-7B9C-C9DF51A8E99C}"/>
              </a:ext>
            </a:extLst>
          </p:cNvPr>
          <p:cNvSpPr/>
          <p:nvPr/>
        </p:nvSpPr>
        <p:spPr>
          <a:xfrm rot="1680000">
            <a:off x="10177898" y="1758680"/>
            <a:ext cx="1149927" cy="304799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accent3"/>
                </a:solidFill>
              </a:rPr>
              <a:t>Monthly</a:t>
            </a:r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6B2DA96-494C-A2F8-0D42-220F1AD94899}"/>
              </a:ext>
            </a:extLst>
          </p:cNvPr>
          <p:cNvSpPr/>
          <p:nvPr/>
        </p:nvSpPr>
        <p:spPr>
          <a:xfrm rot="1680000">
            <a:off x="10177897" y="4446461"/>
            <a:ext cx="1149927" cy="304799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accent3"/>
                </a:solidFill>
              </a:rPr>
              <a:t>Yearly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475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2C617-1BC9-AA57-A4EE-E20724A48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A1935EC-B0A3-547B-8DB1-4F9DEC8F1D78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58E3BED-9725-ACAD-5A54-9423DA44D4AC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81AF15-0595-56CC-89DC-9F0D28A6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April Demand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29CE877-F84B-A6E1-02A3-46F1389298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815638"/>
              </p:ext>
            </p:extLst>
          </p:nvPr>
        </p:nvGraphicFramePr>
        <p:xfrm>
          <a:off x="502110" y="3745951"/>
          <a:ext cx="11346766" cy="27511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BBEA4DB-3D4F-2EB9-29EE-44340ED55E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9906649"/>
              </p:ext>
            </p:extLst>
          </p:nvPr>
        </p:nvGraphicFramePr>
        <p:xfrm>
          <a:off x="504779" y="1410012"/>
          <a:ext cx="11348549" cy="23382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B1366647-176E-E865-539D-D1F51BA91A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08748" y="447675"/>
            <a:ext cx="914400" cy="9144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5BB2D79-89A0-ACF0-A71E-A15980014167}"/>
              </a:ext>
            </a:extLst>
          </p:cNvPr>
          <p:cNvSpPr/>
          <p:nvPr/>
        </p:nvSpPr>
        <p:spPr>
          <a:xfrm>
            <a:off x="7687743" y="1487610"/>
            <a:ext cx="997527" cy="1711035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050">
                <a:solidFill>
                  <a:schemeClr val="accent3"/>
                </a:solidFill>
              </a:rPr>
              <a:t>Demand Spike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F7B216-970D-6507-6F65-0B1E62FABCC4}"/>
              </a:ext>
            </a:extLst>
          </p:cNvPr>
          <p:cNvSpPr/>
          <p:nvPr/>
        </p:nvSpPr>
        <p:spPr>
          <a:xfrm>
            <a:off x="8189771" y="3857644"/>
            <a:ext cx="3373580" cy="858980"/>
          </a:xfrm>
          <a:prstGeom prst="round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>
                <a:solidFill>
                  <a:schemeClr val="accent3"/>
                </a:solidFill>
              </a:rPr>
              <a:t>April 2022 has a large spike in daily calls (demand) which </a:t>
            </a:r>
            <a:r>
              <a:rPr lang="en-US" sz="1400">
                <a:solidFill>
                  <a:schemeClr val="accent3"/>
                </a:solidFill>
              </a:rPr>
              <a:t>needs to be addressed before forecasting.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991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8DB95D73-A2D4-FA55-6B4F-446AE3394987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23A33D3-CE37-8B71-01F6-3D12265CF884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26013-F5CA-0A6D-3A24-563FED00E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FTE Considerations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00793FA-0F3F-D15B-EA0A-E5873FCBD9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7560301"/>
              </p:ext>
            </p:extLst>
          </p:nvPr>
        </p:nvGraphicFramePr>
        <p:xfrm>
          <a:off x="424296" y="2199409"/>
          <a:ext cx="11372850" cy="42550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DEAEA00-5941-A84C-7EC0-09F686207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725" y="1622009"/>
            <a:ext cx="11326090" cy="5074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200" dirty="0"/>
              <a:t>Headcount (FTE) is shown with a large spike in required staff from </a:t>
            </a:r>
            <a:r>
              <a:rPr lang="en-US" sz="2200"/>
              <a:t>March to July of 2022. </a:t>
            </a:r>
            <a:endParaRPr lang="en-US" sz="2200" dirty="0"/>
          </a:p>
        </p:txBody>
      </p:sp>
      <p:pic>
        <p:nvPicPr>
          <p:cNvPr id="6" name="Graphic 5" descr="Single gear with solid fill">
            <a:extLst>
              <a:ext uri="{FF2B5EF4-FFF2-40B4-BE49-F238E27FC236}">
                <a16:creationId xmlns:a16="http://schemas.microsoft.com/office/drawing/2014/main" id="{48790ADC-1D98-D789-9679-E6207B378D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8748" y="447675"/>
            <a:ext cx="914400" cy="9144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4F5AD8-2121-1844-8370-A0FC2D252662}"/>
              </a:ext>
            </a:extLst>
          </p:cNvPr>
          <p:cNvSpPr/>
          <p:nvPr/>
        </p:nvSpPr>
        <p:spPr>
          <a:xfrm>
            <a:off x="7299816" y="2900774"/>
            <a:ext cx="1891144" cy="2424543"/>
          </a:xfrm>
          <a:prstGeom prst="round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050">
                <a:solidFill>
                  <a:schemeClr val="accent3"/>
                </a:solidFill>
              </a:rPr>
              <a:t>Impact of Demand Spike</a:t>
            </a:r>
          </a:p>
        </p:txBody>
      </p:sp>
    </p:spTree>
    <p:extLst>
      <p:ext uri="{BB962C8B-B14F-4D97-AF65-F5344CB8AC3E}">
        <p14:creationId xmlns:p14="http://schemas.microsoft.com/office/powerpoint/2010/main" val="3164520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A1AFC22C-423F-91A2-390F-CD450461B953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271B220-598C-D07C-6C9F-EBCA5FE01B0D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3F8022-32A7-7305-D3E8-067E0FD3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Data Description Insights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85DE756C-1A8A-E099-4FCD-CDD0C0B0A7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6453925"/>
              </p:ext>
            </p:extLst>
          </p:nvPr>
        </p:nvGraphicFramePr>
        <p:xfrm>
          <a:off x="719805" y="1739468"/>
          <a:ext cx="10515600" cy="4309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Graphic 3" descr="Single gear with solid fill">
            <a:extLst>
              <a:ext uri="{FF2B5EF4-FFF2-40B4-BE49-F238E27FC236}">
                <a16:creationId xmlns:a16="http://schemas.microsoft.com/office/drawing/2014/main" id="{C1E56F87-1FD2-EC8E-4325-84FACBC41AB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08748" y="4476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9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598CA-43A9-1CB6-C0B4-A1B2441A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FD4C6C4A-0156-5DF4-D465-27DB3C191A6D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48D82-0213-989D-115D-BA7AEFCBB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AEA3-8221-36B4-05D4-BF26789A9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solidFill>
                  <a:schemeClr val="accent3"/>
                </a:solidFill>
              </a:rPr>
              <a:t>Understanding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Data Scrubbing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Data Description 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Summary of Insights</a:t>
            </a:r>
          </a:p>
          <a:p>
            <a:r>
              <a:rPr lang="en-US">
                <a:solidFill>
                  <a:schemeClr val="accent1"/>
                </a:solidFill>
              </a:rPr>
              <a:t>Modelling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Forecast Preparation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Time Series Decomposition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Time Series Forecast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Exploring the Impact on Headcount (FTE)</a:t>
            </a:r>
          </a:p>
          <a:p>
            <a:r>
              <a:rPr lang="en-US"/>
              <a:t>Solutions to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Options Available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Cost per Option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Recommendations</a:t>
            </a:r>
          </a:p>
          <a:p>
            <a:endParaRPr lang="en-US"/>
          </a:p>
        </p:txBody>
      </p:sp>
      <p:pic>
        <p:nvPicPr>
          <p:cNvPr id="4" name="Graphic 3" descr="Head with gears with solid fill">
            <a:extLst>
              <a:ext uri="{FF2B5EF4-FFF2-40B4-BE49-F238E27FC236}">
                <a16:creationId xmlns:a16="http://schemas.microsoft.com/office/drawing/2014/main" id="{60A8927C-92FC-285B-DDD2-99CAE374A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6927" y="2971800"/>
            <a:ext cx="914400" cy="914400"/>
          </a:xfrm>
          <a:prstGeom prst="rect">
            <a:avLst/>
          </a:prstGeom>
        </p:spPr>
      </p:pic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7C5988CA-5B43-F2EB-F2BA-E93CADD43D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1257" y="1369002"/>
            <a:ext cx="914400" cy="914400"/>
          </a:xfrm>
          <a:prstGeom prst="rect">
            <a:avLst/>
          </a:prstGeom>
        </p:spPr>
      </p:pic>
      <p:pic>
        <p:nvPicPr>
          <p:cNvPr id="6" name="Graphic 5" descr="Lightbulb and gear with solid fill">
            <a:extLst>
              <a:ext uri="{FF2B5EF4-FFF2-40B4-BE49-F238E27FC236}">
                <a16:creationId xmlns:a16="http://schemas.microsoft.com/office/drawing/2014/main" id="{92DC6613-0DAC-F482-4BD9-4A9571A5EC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8659" y="4663786"/>
            <a:ext cx="914400" cy="914400"/>
          </a:xfrm>
          <a:prstGeom prst="rect">
            <a:avLst/>
          </a:prstGeom>
        </p:spPr>
      </p:pic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F40F3DC2-278A-8007-8A49-6813C2A6888E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Telemarketer">
            <a:extLst>
              <a:ext uri="{FF2B5EF4-FFF2-40B4-BE49-F238E27FC236}">
                <a16:creationId xmlns:a16="http://schemas.microsoft.com/office/drawing/2014/main" id="{4D0C46C4-4CBF-E074-2115-2BDC298B87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27536" y="41483"/>
            <a:ext cx="1662137" cy="1655892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39542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F4B26E9-7090-7B80-4CD0-33BC9E6266E8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478448A0-3BDE-6BF6-E9C3-F6F3C7BA1C72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15E6E-4042-B989-EF25-9E7F197F7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Forecasting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4F763-A29A-A352-EA5E-37D9EE9E2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561" y="1469609"/>
            <a:ext cx="10515600" cy="978552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/>
              <a:t>Data refactored to reduce the impact of outliers.</a:t>
            </a:r>
          </a:p>
          <a:p>
            <a:pPr marL="0" indent="0">
              <a:buNone/>
            </a:pPr>
            <a:r>
              <a:rPr lang="en-US"/>
              <a:t>Z-score (purple line) refactoring used as it fit the actual data the best.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A437EC-7BBB-6D86-ABA0-ADA9DED5C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33" y="2545755"/>
            <a:ext cx="11423754" cy="40837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Graphic 5" descr="Head with gears with solid fill">
            <a:extLst>
              <a:ext uri="{FF2B5EF4-FFF2-40B4-BE49-F238E27FC236}">
                <a16:creationId xmlns:a16="http://schemas.microsoft.com/office/drawing/2014/main" id="{7EFAB72F-0C80-2EC6-328A-22A9925EA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6600" y="367146"/>
            <a:ext cx="914400" cy="9144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1EAD44-F975-5A4B-D8BE-320256089B21}"/>
              </a:ext>
            </a:extLst>
          </p:cNvPr>
          <p:cNvSpPr/>
          <p:nvPr/>
        </p:nvSpPr>
        <p:spPr>
          <a:xfrm>
            <a:off x="10450392" y="3692081"/>
            <a:ext cx="1304991" cy="285083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1050" dirty="0">
              <a:solidFill>
                <a:schemeClr val="accent3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6BED9B3-893B-1A6B-2A00-B1EB2DFBC024}"/>
              </a:ext>
            </a:extLst>
          </p:cNvPr>
          <p:cNvSpPr/>
          <p:nvPr/>
        </p:nvSpPr>
        <p:spPr>
          <a:xfrm>
            <a:off x="5871065" y="2981368"/>
            <a:ext cx="2865625" cy="1728487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1050" dirty="0">
              <a:solidFill>
                <a:schemeClr val="accent3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C71548-9AEF-402C-06B6-223BAE23E2CB}"/>
              </a:ext>
            </a:extLst>
          </p:cNvPr>
          <p:cNvSpPr txBox="1"/>
          <p:nvPr/>
        </p:nvSpPr>
        <p:spPr>
          <a:xfrm>
            <a:off x="7304943" y="3187211"/>
            <a:ext cx="1304191" cy="76944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100">
                <a:solidFill>
                  <a:schemeClr val="tx2"/>
                </a:solidFill>
              </a:rPr>
              <a:t>Certain transformations still had major outliers present.</a:t>
            </a: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720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A20693A0-6BAC-B972-DD0F-620CDC5C75B8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02B6F630-2533-F691-EBD3-600001B14ECF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562444-82E2-2565-7A9B-F074C95F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Time Series Decomposition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076FE4A-4700-ACA3-6331-9DD393BF8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643" y="1520826"/>
            <a:ext cx="3704225" cy="501635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Time series decomposition yields a </a:t>
            </a:r>
            <a:r>
              <a:rPr lang="en-US" sz="2400" b="1"/>
              <a:t>trend component </a:t>
            </a:r>
            <a:r>
              <a:rPr lang="en-US" sz="2400"/>
              <a:t>beginning in </a:t>
            </a:r>
            <a:r>
              <a:rPr lang="en-US" sz="2400" dirty="0"/>
              <a:t>2021.</a:t>
            </a:r>
          </a:p>
          <a:p>
            <a:r>
              <a:rPr lang="en-US" sz="2400"/>
              <a:t>Clear </a:t>
            </a:r>
            <a:r>
              <a:rPr lang="en-US" sz="2400" b="1"/>
              <a:t>seasonal component </a:t>
            </a:r>
            <a:r>
              <a:rPr lang="en-US" sz="2400"/>
              <a:t>which is produced by weekly demand. </a:t>
            </a:r>
          </a:p>
          <a:p>
            <a:r>
              <a:rPr lang="en-US" sz="2400"/>
              <a:t>Residual component shows </a:t>
            </a:r>
            <a:r>
              <a:rPr lang="en-US" sz="2400" b="1"/>
              <a:t>data is stationary </a:t>
            </a:r>
            <a:r>
              <a:rPr lang="en-US" sz="2400"/>
              <a:t>and can be used for forecasting. 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17BB6819-A1DC-9ED1-3D67-093DF391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918" y="1356946"/>
            <a:ext cx="7897091" cy="53398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Graphic 3" descr="Head with gears with solid fill">
            <a:extLst>
              <a:ext uri="{FF2B5EF4-FFF2-40B4-BE49-F238E27FC236}">
                <a16:creationId xmlns:a16="http://schemas.microsoft.com/office/drawing/2014/main" id="{8EB10E92-E0A8-899E-EF33-EB84595D4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6600" y="367146"/>
            <a:ext cx="914400" cy="9144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189797-7F96-40CD-877C-F10D5B318060}"/>
              </a:ext>
            </a:extLst>
          </p:cNvPr>
          <p:cNvSpPr/>
          <p:nvPr/>
        </p:nvSpPr>
        <p:spPr>
          <a:xfrm>
            <a:off x="7175257" y="2834828"/>
            <a:ext cx="4059913" cy="101045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1050" dirty="0">
              <a:solidFill>
                <a:schemeClr val="accent3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0A5E96-C159-41A2-E589-E9AC94BA61FF}"/>
              </a:ext>
            </a:extLst>
          </p:cNvPr>
          <p:cNvSpPr txBox="1"/>
          <p:nvPr/>
        </p:nvSpPr>
        <p:spPr>
          <a:xfrm>
            <a:off x="4931020" y="4205652"/>
            <a:ext cx="1853710" cy="2308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</a:rPr>
              <a:t>Seasonal Component Identified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7B760D-9A59-20BD-CC5A-9223917736B2}"/>
              </a:ext>
            </a:extLst>
          </p:cNvPr>
          <p:cNvSpPr/>
          <p:nvPr/>
        </p:nvSpPr>
        <p:spPr>
          <a:xfrm>
            <a:off x="4742718" y="4131693"/>
            <a:ext cx="6990682" cy="101045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1050" dirty="0">
              <a:solidFill>
                <a:schemeClr val="accent3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B6F817-A6A0-BB16-0A7C-5835519110F6}"/>
              </a:ext>
            </a:extLst>
          </p:cNvPr>
          <p:cNvCxnSpPr/>
          <p:nvPr/>
        </p:nvCxnSpPr>
        <p:spPr>
          <a:xfrm>
            <a:off x="3466326" y="2279001"/>
            <a:ext cx="3700539" cy="6248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8E7E45-56C6-6A68-8CFF-1CFE018C6C5A}"/>
              </a:ext>
            </a:extLst>
          </p:cNvPr>
          <p:cNvCxnSpPr>
            <a:cxnSpLocks/>
          </p:cNvCxnSpPr>
          <p:nvPr/>
        </p:nvCxnSpPr>
        <p:spPr>
          <a:xfrm>
            <a:off x="3430134" y="3766367"/>
            <a:ext cx="1268001" cy="4050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2ADE72B-A699-FF1A-29DD-5498AE76CDDC}"/>
              </a:ext>
            </a:extLst>
          </p:cNvPr>
          <p:cNvSpPr txBox="1"/>
          <p:nvPr/>
        </p:nvSpPr>
        <p:spPr>
          <a:xfrm>
            <a:off x="4894385" y="5517171"/>
            <a:ext cx="1853710" cy="2308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</a:rPr>
              <a:t>Stationary Data Identified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45BEC83-DFF9-C7E7-A7BB-D06267C6DC7F}"/>
              </a:ext>
            </a:extLst>
          </p:cNvPr>
          <p:cNvSpPr/>
          <p:nvPr/>
        </p:nvSpPr>
        <p:spPr>
          <a:xfrm>
            <a:off x="4706083" y="5443212"/>
            <a:ext cx="6990682" cy="101045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1050" dirty="0">
              <a:solidFill>
                <a:schemeClr val="accent3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E1DB8F-0728-34B1-DEE0-5C71F5E82EBA}"/>
              </a:ext>
            </a:extLst>
          </p:cNvPr>
          <p:cNvCxnSpPr>
            <a:cxnSpLocks/>
          </p:cNvCxnSpPr>
          <p:nvPr/>
        </p:nvCxnSpPr>
        <p:spPr>
          <a:xfrm>
            <a:off x="3693903" y="5414923"/>
            <a:ext cx="945617" cy="680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B76E0EB-05CE-4CBA-C2F1-36A92AF604C3}"/>
              </a:ext>
            </a:extLst>
          </p:cNvPr>
          <p:cNvSpPr txBox="1"/>
          <p:nvPr/>
        </p:nvSpPr>
        <p:spPr>
          <a:xfrm>
            <a:off x="9144000" y="3612171"/>
            <a:ext cx="1853710" cy="2308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</a:rPr>
              <a:t>Trend Component Identified</a:t>
            </a:r>
          </a:p>
        </p:txBody>
      </p:sp>
    </p:spTree>
    <p:extLst>
      <p:ext uri="{BB962C8B-B14F-4D97-AF65-F5344CB8AC3E}">
        <p14:creationId xmlns:p14="http://schemas.microsoft.com/office/powerpoint/2010/main" val="2337822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058EC4E6-9F22-1B8C-5014-BA44172111C1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E461445-CE35-0FC7-7624-EA7523FC69F9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1F1931-F4A9-1BF8-1473-5082CABC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Time Series Forecast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E8F08C7-3425-AC59-F04E-CFF3D4D0AF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5486489"/>
              </p:ext>
            </p:extLst>
          </p:nvPr>
        </p:nvGraphicFramePr>
        <p:xfrm>
          <a:off x="250680" y="2750127"/>
          <a:ext cx="11699298" cy="38463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BEA31BC-194C-AA70-B949-9E55FC1AC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5" y="1562389"/>
            <a:ext cx="10515600" cy="11370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Below shows the call volume forecast against the acutal volumes. </a:t>
            </a:r>
          </a:p>
          <a:p>
            <a:r>
              <a:rPr lang="en-US"/>
              <a:t>Forecast was done with the prophet aggregative algorithm.</a:t>
            </a:r>
          </a:p>
        </p:txBody>
      </p:sp>
      <p:pic>
        <p:nvPicPr>
          <p:cNvPr id="4" name="Graphic 3" descr="Head with gears with solid fill">
            <a:extLst>
              <a:ext uri="{FF2B5EF4-FFF2-40B4-BE49-F238E27FC236}">
                <a16:creationId xmlns:a16="http://schemas.microsoft.com/office/drawing/2014/main" id="{76C53615-3FB2-1C26-8BEC-F7FD1697A9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6600" y="367146"/>
            <a:ext cx="914400" cy="9144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1896755-1F82-C262-67F0-C79E61267654}"/>
              </a:ext>
            </a:extLst>
          </p:cNvPr>
          <p:cNvSpPr/>
          <p:nvPr/>
        </p:nvSpPr>
        <p:spPr>
          <a:xfrm>
            <a:off x="7204565" y="3743367"/>
            <a:ext cx="4609431" cy="2043545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endParaRPr lang="en-US" sz="1050" dirty="0">
              <a:solidFill>
                <a:schemeClr val="accent3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A4F985-07C5-6B5D-A7CC-39383B3C1F65}"/>
              </a:ext>
            </a:extLst>
          </p:cNvPr>
          <p:cNvSpPr txBox="1"/>
          <p:nvPr/>
        </p:nvSpPr>
        <p:spPr>
          <a:xfrm>
            <a:off x="9664212" y="5260729"/>
            <a:ext cx="1853710" cy="2308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">
                <a:solidFill>
                  <a:schemeClr val="tx2"/>
                </a:solidFill>
              </a:rPr>
              <a:t>Forecast fits the trend line well.</a:t>
            </a: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642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3B5C5C84-44E9-E58B-A3A5-09E77D1D94C1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F2553F27-112C-29C2-4B3F-F9170260C62D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AEB0AB-326A-F04C-F939-A9C02710D15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Exploring the Impact on Headcount (FTE) 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F78FE2-BB3A-F76A-7B6C-8A4DFB090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945" y="1562389"/>
            <a:ext cx="10515600" cy="1400320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The weekly headcount requirement is shown below. </a:t>
            </a:r>
          </a:p>
          <a:p>
            <a:r>
              <a:rPr lang="en-US"/>
              <a:t>There is a general need to have at least two agents at the call center, frequently requiring 3 agents in 2023. </a:t>
            </a:r>
          </a:p>
          <a:p>
            <a:r>
              <a:rPr lang="en-US"/>
              <a:t>There is a need to increase the number of call center agents in 2024.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757AD9E6-57A9-6747-381F-B182822F55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3828236"/>
              </p:ext>
            </p:extLst>
          </p:nvPr>
        </p:nvGraphicFramePr>
        <p:xfrm>
          <a:off x="363682" y="3044103"/>
          <a:ext cx="11480223" cy="37086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8" name="Graphic 7" descr="Head with gears with solid fill">
            <a:extLst>
              <a:ext uri="{FF2B5EF4-FFF2-40B4-BE49-F238E27FC236}">
                <a16:creationId xmlns:a16="http://schemas.microsoft.com/office/drawing/2014/main" id="{D152EEB1-B555-F4C4-5045-E424FE4E58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6600" y="36714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53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7C445451-0023-A224-B966-204C83E1764A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8C73277A-C1E3-0B68-9322-7847FD8855DD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F801D5-E501-536B-175B-D810AF388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Data Forecast Insights</a:t>
            </a:r>
          </a:p>
        </p:txBody>
      </p:sp>
      <p:pic>
        <p:nvPicPr>
          <p:cNvPr id="5" name="Graphic 4" descr="Head with gears with solid fill">
            <a:extLst>
              <a:ext uri="{FF2B5EF4-FFF2-40B4-BE49-F238E27FC236}">
                <a16:creationId xmlns:a16="http://schemas.microsoft.com/office/drawing/2014/main" id="{6B280750-FC27-7922-865E-C1A11E78F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6600" y="367146"/>
            <a:ext cx="914400" cy="914400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A99AE-101D-9B7C-CA85-A6C395372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EE66E43E-9344-A514-4AD4-E6BC6F3D637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7382541"/>
              </p:ext>
            </p:extLst>
          </p:nvPr>
        </p:nvGraphicFramePr>
        <p:xfrm>
          <a:off x="741786" y="1805410"/>
          <a:ext cx="10515600" cy="4309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680938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34B1A-7708-B5F6-F876-A132D704F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89034B5F-9D4D-DEDB-1535-52CB64F1CFB8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E2655-ADDC-2658-B98E-60A056854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633B2-E65D-132F-6024-D5C006E7F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solidFill>
                  <a:schemeClr val="accent3"/>
                </a:solidFill>
              </a:rPr>
              <a:t>Understanding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Data Scrubbing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Data Description 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Summary of Insights</a:t>
            </a:r>
          </a:p>
          <a:p>
            <a:r>
              <a:rPr lang="en-US">
                <a:solidFill>
                  <a:schemeClr val="accent1"/>
                </a:solidFill>
              </a:rPr>
              <a:t>Modelling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Forecast Preparation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Time Series Decomposition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Time Series Forecast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Exploring the Impact on Headcount (FTE)</a:t>
            </a:r>
          </a:p>
          <a:p>
            <a:r>
              <a:rPr lang="en-US"/>
              <a:t>Solutions to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Options Available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Cost per Option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Recommendations</a:t>
            </a:r>
          </a:p>
          <a:p>
            <a:endParaRPr lang="en-US"/>
          </a:p>
        </p:txBody>
      </p:sp>
      <p:pic>
        <p:nvPicPr>
          <p:cNvPr id="4" name="Graphic 3" descr="Head with gears with solid fill">
            <a:extLst>
              <a:ext uri="{FF2B5EF4-FFF2-40B4-BE49-F238E27FC236}">
                <a16:creationId xmlns:a16="http://schemas.microsoft.com/office/drawing/2014/main" id="{58CE4F29-CD06-BCC8-0B9B-17F70E97AD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6927" y="2971800"/>
            <a:ext cx="914400" cy="914400"/>
          </a:xfrm>
          <a:prstGeom prst="rect">
            <a:avLst/>
          </a:prstGeom>
        </p:spPr>
      </p:pic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9B10452F-703E-9048-6231-26627B81CD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1257" y="1369002"/>
            <a:ext cx="914400" cy="914400"/>
          </a:xfrm>
          <a:prstGeom prst="rect">
            <a:avLst/>
          </a:prstGeom>
        </p:spPr>
      </p:pic>
      <p:pic>
        <p:nvPicPr>
          <p:cNvPr id="6" name="Graphic 5" descr="Lightbulb and gear with solid fill">
            <a:extLst>
              <a:ext uri="{FF2B5EF4-FFF2-40B4-BE49-F238E27FC236}">
                <a16:creationId xmlns:a16="http://schemas.microsoft.com/office/drawing/2014/main" id="{937960FD-51B3-A9DC-A6F3-102AB283DC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8659" y="4663786"/>
            <a:ext cx="914400" cy="914400"/>
          </a:xfrm>
          <a:prstGeom prst="rect">
            <a:avLst/>
          </a:prstGeom>
        </p:spPr>
      </p:pic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4233FEA7-8D9B-6AE3-3601-E83631F30E9E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Graphic 9" descr="Telemarketer">
            <a:extLst>
              <a:ext uri="{FF2B5EF4-FFF2-40B4-BE49-F238E27FC236}">
                <a16:creationId xmlns:a16="http://schemas.microsoft.com/office/drawing/2014/main" id="{0FC8F189-3F3D-4F6F-93DA-2AE92242B7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27536" y="41483"/>
            <a:ext cx="1662137" cy="1655892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63069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DA905530-1760-6966-CB95-CC3BEF0DC2AA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E206D6D-8AF1-FCE9-4B42-D930568B69BD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2E9E2D-3217-FC91-E7F2-1614D7B3E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Options Available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37F8D-5595-6B10-0CCD-402B4E863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142" y="1854933"/>
            <a:ext cx="7863257" cy="4637087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buNone/>
            </a:pPr>
            <a:r>
              <a:rPr lang="en-US"/>
              <a:t>Threats to the Call Center.</a:t>
            </a:r>
          </a:p>
          <a:p>
            <a:pPr marL="914400" lvl="1" indent="-457200">
              <a:buAutoNum type="arabicPeriod"/>
            </a:pPr>
            <a:r>
              <a:rPr lang="en-US"/>
              <a:t>Spikes in demand due to </a:t>
            </a:r>
            <a:r>
              <a:rPr lang="en-US" b="1"/>
              <a:t>external shocks</a:t>
            </a:r>
            <a:r>
              <a:rPr lang="en-US"/>
              <a:t>. </a:t>
            </a:r>
          </a:p>
          <a:p>
            <a:pPr marL="914400" lvl="1" indent="-457200">
              <a:buAutoNum type="arabicPeriod"/>
            </a:pPr>
            <a:r>
              <a:rPr lang="en-US" b="1"/>
              <a:t>Small size</a:t>
            </a:r>
            <a:r>
              <a:rPr lang="en-US"/>
              <a:t> of call center reduces its ability to absorb variability in demand. </a:t>
            </a:r>
          </a:p>
          <a:p>
            <a:pPr marL="914400" lvl="1" indent="-457200">
              <a:buAutoNum type="arabicPeriod"/>
            </a:pPr>
            <a:r>
              <a:rPr lang="en-US" b="1"/>
              <a:t>Continued increase in demand</a:t>
            </a:r>
            <a:r>
              <a:rPr lang="en-US"/>
              <a:t> over the years requiring more agents for base demand in 2024. </a:t>
            </a:r>
          </a:p>
          <a:p>
            <a:pPr marL="914400" lvl="1" indent="-457200">
              <a:buAutoNum type="arabicPeriod"/>
            </a:pPr>
            <a:endParaRPr lang="en-US" dirty="0"/>
          </a:p>
          <a:p>
            <a:pPr marL="914400" lvl="1" indent="-457200"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/>
              <a:t>Opportunities to limit impact of threats:</a:t>
            </a:r>
          </a:p>
          <a:p>
            <a:pPr lvl="1">
              <a:buAutoNum type="arabicPeriod"/>
            </a:pPr>
            <a:r>
              <a:rPr lang="en-US"/>
              <a:t>Keep a larger </a:t>
            </a:r>
            <a:r>
              <a:rPr lang="en-US" b="1"/>
              <a:t>call center on retainer</a:t>
            </a:r>
            <a:r>
              <a:rPr lang="en-US"/>
              <a:t> that can be called on when external shocks happen. </a:t>
            </a:r>
          </a:p>
          <a:p>
            <a:pPr lvl="1">
              <a:buAutoNum type="arabicPeriod"/>
            </a:pPr>
            <a:r>
              <a:rPr lang="en-US"/>
              <a:t>Hire </a:t>
            </a:r>
            <a:r>
              <a:rPr lang="en-US" b="1"/>
              <a:t>additional agents</a:t>
            </a:r>
            <a:r>
              <a:rPr lang="en-US"/>
              <a:t> in 2024. </a:t>
            </a:r>
          </a:p>
          <a:p>
            <a:pPr lvl="1">
              <a:buAutoNum type="arabicPeriod"/>
            </a:pPr>
            <a:r>
              <a:rPr lang="en-US"/>
              <a:t>Implement a </a:t>
            </a:r>
            <a:r>
              <a:rPr lang="en-US" b="1"/>
              <a:t>multi skilled</a:t>
            </a:r>
            <a:r>
              <a:rPr lang="en-US"/>
              <a:t> employee model that can have other employees join the call center during peak periods and periods of external shocks. </a:t>
            </a:r>
          </a:p>
          <a:p>
            <a:pPr lvl="1">
              <a:buAutoNum type="arabicPeriod"/>
            </a:pPr>
            <a:r>
              <a:rPr lang="en-US"/>
              <a:t>Consider hiring </a:t>
            </a:r>
            <a:r>
              <a:rPr lang="en-US" b="1"/>
              <a:t>a manager</a:t>
            </a:r>
            <a:r>
              <a:rPr lang="en-US"/>
              <a:t> to help manage the call center. </a:t>
            </a:r>
          </a:p>
          <a:p>
            <a:pPr lvl="1">
              <a:buAutoNum type="arabicPeriod"/>
            </a:pPr>
            <a:r>
              <a:rPr lang="en-US"/>
              <a:t>Implement a </a:t>
            </a:r>
            <a:r>
              <a:rPr lang="en-US" b="1"/>
              <a:t>chatbot/FAQ</a:t>
            </a:r>
            <a:r>
              <a:rPr lang="en-US"/>
              <a:t> operator that can deal with low workload queries. </a:t>
            </a:r>
          </a:p>
          <a:p>
            <a:pPr lvl="1">
              <a:buAutoNum type="arabicPeriod"/>
            </a:pPr>
            <a:r>
              <a:rPr lang="en-US"/>
              <a:t>Ensure there is a focus on </a:t>
            </a:r>
            <a:r>
              <a:rPr lang="en-US" b="1"/>
              <a:t>first call resolution</a:t>
            </a:r>
            <a:r>
              <a:rPr lang="en-US"/>
              <a:t>. </a:t>
            </a:r>
          </a:p>
        </p:txBody>
      </p:sp>
      <p:pic>
        <p:nvPicPr>
          <p:cNvPr id="5" name="Graphic 4" descr="Lightbulb and gear with solid fill">
            <a:extLst>
              <a:ext uri="{FF2B5EF4-FFF2-40B4-BE49-F238E27FC236}">
                <a16:creationId xmlns:a16="http://schemas.microsoft.com/office/drawing/2014/main" id="{EC899032-87E5-B15D-F390-9A291C687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5266" y="366606"/>
            <a:ext cx="914400" cy="914400"/>
          </a:xfrm>
          <a:prstGeom prst="rect">
            <a:avLst/>
          </a:prstGeom>
        </p:spPr>
      </p:pic>
      <p:pic>
        <p:nvPicPr>
          <p:cNvPr id="4" name="Graphic 3" descr="Warning with solid fill">
            <a:extLst>
              <a:ext uri="{FF2B5EF4-FFF2-40B4-BE49-F238E27FC236}">
                <a16:creationId xmlns:a16="http://schemas.microsoft.com/office/drawing/2014/main" id="{E67F02CA-B6F5-244D-2DF0-519E493DC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666" y="1784838"/>
            <a:ext cx="1148860" cy="1141534"/>
          </a:xfrm>
          <a:prstGeom prst="rect">
            <a:avLst/>
          </a:prstGeom>
        </p:spPr>
      </p:pic>
      <p:pic>
        <p:nvPicPr>
          <p:cNvPr id="6" name="Graphic 5" descr="Bar graph with upward trend with solid fill">
            <a:extLst>
              <a:ext uri="{FF2B5EF4-FFF2-40B4-BE49-F238E27FC236}">
                <a16:creationId xmlns:a16="http://schemas.microsoft.com/office/drawing/2014/main" id="{E9DA10FC-6E8B-ABB2-B0CA-DD3F2A89C9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2329" y="3656867"/>
            <a:ext cx="1141534" cy="113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25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75B5E5B5-4278-D5C6-00C1-C202B64528FE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9B256A8B-FC62-978F-6AE2-407984356DBA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1074F-0934-AFAF-4C0A-E9C69AC05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Cost per Option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8AFD2C1-C8ED-1AA1-6F25-EC295F62B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682245"/>
              </p:ext>
            </p:extLst>
          </p:nvPr>
        </p:nvGraphicFramePr>
        <p:xfrm>
          <a:off x="633438" y="2130514"/>
          <a:ext cx="5016499" cy="112966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293047438"/>
                    </a:ext>
                  </a:extLst>
                </a:gridCol>
                <a:gridCol w="1147233">
                  <a:extLst>
                    <a:ext uri="{9D8B030D-6E8A-4147-A177-3AD203B41FA5}">
                      <a16:colId xmlns:a16="http://schemas.microsoft.com/office/drawing/2014/main" val="2726689707"/>
                    </a:ext>
                  </a:extLst>
                </a:gridCol>
                <a:gridCol w="1147233">
                  <a:extLst>
                    <a:ext uri="{9D8B030D-6E8A-4147-A177-3AD203B41FA5}">
                      <a16:colId xmlns:a16="http://schemas.microsoft.com/office/drawing/2014/main" val="2726974035"/>
                    </a:ext>
                  </a:extLst>
                </a:gridCol>
                <a:gridCol w="1147233">
                  <a:extLst>
                    <a:ext uri="{9D8B030D-6E8A-4147-A177-3AD203B41FA5}">
                      <a16:colId xmlns:a16="http://schemas.microsoft.com/office/drawing/2014/main" val="1341733065"/>
                    </a:ext>
                  </a:extLst>
                </a:gridCol>
              </a:tblGrid>
              <a:tr h="219075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Scenario One: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Permanent Staff Only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2771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Setup: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Number: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Yearly Cost: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2260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Permananent Staff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€ 100,000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223188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Permanent Staff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2024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€ 100,000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3009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2024 Total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/>
                        </a:rPr>
                        <a:t>€ 100,000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0630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9D17F90-2F29-2AB2-8032-EBC86F3791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666354"/>
              </p:ext>
            </p:extLst>
          </p:nvPr>
        </p:nvGraphicFramePr>
        <p:xfrm>
          <a:off x="6794779" y="2129819"/>
          <a:ext cx="5016499" cy="11353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656834734"/>
                    </a:ext>
                  </a:extLst>
                </a:gridCol>
                <a:gridCol w="1147233">
                  <a:extLst>
                    <a:ext uri="{9D8B030D-6E8A-4147-A177-3AD203B41FA5}">
                      <a16:colId xmlns:a16="http://schemas.microsoft.com/office/drawing/2014/main" val="1376697047"/>
                    </a:ext>
                  </a:extLst>
                </a:gridCol>
                <a:gridCol w="1147233">
                  <a:extLst>
                    <a:ext uri="{9D8B030D-6E8A-4147-A177-3AD203B41FA5}">
                      <a16:colId xmlns:a16="http://schemas.microsoft.com/office/drawing/2014/main" val="1417130278"/>
                    </a:ext>
                  </a:extLst>
                </a:gridCol>
                <a:gridCol w="1147233">
                  <a:extLst>
                    <a:ext uri="{9D8B030D-6E8A-4147-A177-3AD203B41FA5}">
                      <a16:colId xmlns:a16="http://schemas.microsoft.com/office/drawing/2014/main" val="3686869591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</a:rPr>
                        <a:t>Scenario Two: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>
                          <a:effectLst/>
                          <a:latin typeface="Calibri" panose="020F0502020204030204" pitchFamily="34" charset="0"/>
                        </a:rPr>
                        <a:t>Increase Permanent Staff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1430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Setup: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Total Number: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Yearly Cost: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1419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2 Permananent Staff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2023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€ 100,000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0334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3 Permanent Staff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2024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€ 150,000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6956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>
                          <a:effectLst/>
                          <a:latin typeface="Calibri" panose="020F0502020204030204" pitchFamily="34" charset="0"/>
                        </a:rPr>
                        <a:t>2024 Total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>
                          <a:effectLst/>
                          <a:highlight>
                            <a:srgbClr val="FFFF00"/>
                          </a:highlight>
                          <a:latin typeface="Calibri"/>
                        </a:rPr>
                        <a:t>€ 150,000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9567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5A5DD0F-0477-61D5-3BD4-74484EB9F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49376"/>
              </p:ext>
            </p:extLst>
          </p:nvPr>
        </p:nvGraphicFramePr>
        <p:xfrm>
          <a:off x="635000" y="4192380"/>
          <a:ext cx="5016499" cy="172783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2794959098"/>
                    </a:ext>
                  </a:extLst>
                </a:gridCol>
                <a:gridCol w="1147233">
                  <a:extLst>
                    <a:ext uri="{9D8B030D-6E8A-4147-A177-3AD203B41FA5}">
                      <a16:colId xmlns:a16="http://schemas.microsoft.com/office/drawing/2014/main" val="814487227"/>
                    </a:ext>
                  </a:extLst>
                </a:gridCol>
                <a:gridCol w="1147233">
                  <a:extLst>
                    <a:ext uri="{9D8B030D-6E8A-4147-A177-3AD203B41FA5}">
                      <a16:colId xmlns:a16="http://schemas.microsoft.com/office/drawing/2014/main" val="3738769992"/>
                    </a:ext>
                  </a:extLst>
                </a:gridCol>
                <a:gridCol w="1147233">
                  <a:extLst>
                    <a:ext uri="{9D8B030D-6E8A-4147-A177-3AD203B41FA5}">
                      <a16:colId xmlns:a16="http://schemas.microsoft.com/office/drawing/2014/main" val="177178617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>
                          <a:effectLst/>
                          <a:latin typeface="Calibri" panose="020F0502020204030204" pitchFamily="34" charset="0"/>
                        </a:rPr>
                        <a:t>Scenario Three: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effectLst/>
                          <a:latin typeface="Calibri"/>
                        </a:rPr>
                        <a:t>Permanent Staff Only and Call Center Retainer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3752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Setup:</a:t>
                      </a:r>
                    </a:p>
                  </a:txBody>
                  <a:tcPr marL="9525" marR="9525" marT="9525" anchor="b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Total Number: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Yearly Cost: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8068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2 Permananent Staff</a:t>
                      </a:r>
                    </a:p>
                  </a:txBody>
                  <a:tcPr marL="9525" marR="9525" marT="9525" anchor="b">
                    <a:lnL w="12700">
                      <a:solidFill>
                        <a:schemeClr val="tx1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2023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€ 100,000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78182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2 Permananent Staff</a:t>
                      </a:r>
                    </a:p>
                  </a:txBody>
                  <a:tcPr marL="9525" marR="9525" marT="9525" anchor="b">
                    <a:lnL w="12700">
                      <a:solidFill>
                        <a:schemeClr val="tx1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2024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€ 100,000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0632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Retainer Fee</a:t>
                      </a:r>
                    </a:p>
                  </a:txBody>
                  <a:tcPr marL="9525" marR="9525" marT="9525" anchor="b">
                    <a:lnL w="12700">
                      <a:solidFill>
                        <a:schemeClr val="tx1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2024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12 (€1000 per month)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€ 12,000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9625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Overflow Transfer Cost</a:t>
                      </a:r>
                    </a:p>
                  </a:txBody>
                  <a:tcPr marL="9525" marR="9525" marT="9525" anchor="b">
                    <a:lnL w="12700">
                      <a:solidFill>
                        <a:schemeClr val="tx1"/>
                      </a:solidFill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2024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5 (overflow events)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€ 12,500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6315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>
                          <a:effectLst/>
                          <a:latin typeface="Calibri" panose="020F0502020204030204" pitchFamily="34" charset="0"/>
                        </a:rPr>
                        <a:t>2024 Total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>
                          <a:effectLst/>
                          <a:highlight>
                            <a:srgbClr val="FFFF00"/>
                          </a:highlight>
                          <a:latin typeface="Calibri"/>
                        </a:rPr>
                        <a:t>€ 124,500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62915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A557990-F893-0633-2526-4153ADDA2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338362"/>
              </p:ext>
            </p:extLst>
          </p:nvPr>
        </p:nvGraphicFramePr>
        <p:xfrm>
          <a:off x="6794780" y="4189114"/>
          <a:ext cx="5016499" cy="15049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682173816"/>
                    </a:ext>
                  </a:extLst>
                </a:gridCol>
                <a:gridCol w="1147233">
                  <a:extLst>
                    <a:ext uri="{9D8B030D-6E8A-4147-A177-3AD203B41FA5}">
                      <a16:colId xmlns:a16="http://schemas.microsoft.com/office/drawing/2014/main" val="1966995921"/>
                    </a:ext>
                  </a:extLst>
                </a:gridCol>
                <a:gridCol w="1147233">
                  <a:extLst>
                    <a:ext uri="{9D8B030D-6E8A-4147-A177-3AD203B41FA5}">
                      <a16:colId xmlns:a16="http://schemas.microsoft.com/office/drawing/2014/main" val="1857128968"/>
                    </a:ext>
                  </a:extLst>
                </a:gridCol>
                <a:gridCol w="1147233">
                  <a:extLst>
                    <a:ext uri="{9D8B030D-6E8A-4147-A177-3AD203B41FA5}">
                      <a16:colId xmlns:a16="http://schemas.microsoft.com/office/drawing/2014/main" val="50412043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>
                          <a:effectLst/>
                          <a:latin typeface="Calibri" panose="020F0502020204030204" pitchFamily="34" charset="0"/>
                        </a:rPr>
                        <a:t>Scenario Four: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effectLst/>
                          <a:latin typeface="Calibri" panose="020F0502020204030204" pitchFamily="34" charset="0"/>
                        </a:rPr>
                        <a:t>Permanent Staff and Chat Agent/FAQ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4403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Setup: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Year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Total Number: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Yearly Cost: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885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2 Permananent Staff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2023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€ 100,000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5464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Development costs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2023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3 Part-Time Developers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€ 60,000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5598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2 Permananent Staff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2024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dirty="0">
                          <a:effectLst/>
                          <a:latin typeface="Calibri"/>
                        </a:rPr>
                        <a:t>2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>
                          <a:effectLst/>
                          <a:latin typeface="Calibri" panose="020F0502020204030204" pitchFamily="34" charset="0"/>
                        </a:rPr>
                        <a:t>€ 100,000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7284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sz="1100" b="1">
                          <a:effectLst/>
                          <a:latin typeface="Calibri" panose="020F0502020204030204" pitchFamily="34" charset="0"/>
                        </a:rPr>
                        <a:t>2024 Total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1">
                          <a:effectLst/>
                          <a:highlight>
                            <a:srgbClr val="FFFF00"/>
                          </a:highlight>
                          <a:latin typeface="Calibri"/>
                        </a:rPr>
                        <a:t>€ 100,000 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663299"/>
                  </a:ext>
                </a:extLst>
              </a:tr>
            </a:tbl>
          </a:graphicData>
        </a:graphic>
      </p:graphicFrame>
      <p:pic>
        <p:nvPicPr>
          <p:cNvPr id="17" name="Graphic 16" descr="Lightbulb and gear with solid fill">
            <a:extLst>
              <a:ext uri="{FF2B5EF4-FFF2-40B4-BE49-F238E27FC236}">
                <a16:creationId xmlns:a16="http://schemas.microsoft.com/office/drawing/2014/main" id="{5B6DB067-B3E6-EC9A-1637-EE52CF17F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5266" y="366606"/>
            <a:ext cx="914400" cy="9144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AAAD25D-583E-4856-80EC-06BF3562DD11}"/>
              </a:ext>
            </a:extLst>
          </p:cNvPr>
          <p:cNvSpPr/>
          <p:nvPr/>
        </p:nvSpPr>
        <p:spPr>
          <a:xfrm>
            <a:off x="537066" y="1713812"/>
            <a:ext cx="5320143" cy="1735814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Base Line Cost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A8EA74-FE64-7E1C-13DA-A138EFFF1918}"/>
              </a:ext>
            </a:extLst>
          </p:cNvPr>
          <p:cNvSpPr/>
          <p:nvPr/>
        </p:nvSpPr>
        <p:spPr>
          <a:xfrm>
            <a:off x="6647719" y="1691831"/>
            <a:ext cx="5320143" cy="1735814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Impact of Adding One More Staff Member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5839A4F-CE61-C2FE-2D41-DABA03BB3ED3}"/>
              </a:ext>
            </a:extLst>
          </p:cNvPr>
          <p:cNvSpPr/>
          <p:nvPr/>
        </p:nvSpPr>
        <p:spPr>
          <a:xfrm>
            <a:off x="537064" y="3750697"/>
            <a:ext cx="5320143" cy="2409889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Impact of Retainer Call Center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89EBD11-2B64-81CE-7E18-413F853DAC80}"/>
              </a:ext>
            </a:extLst>
          </p:cNvPr>
          <p:cNvSpPr/>
          <p:nvPr/>
        </p:nvSpPr>
        <p:spPr>
          <a:xfrm>
            <a:off x="6647717" y="3750697"/>
            <a:ext cx="5320143" cy="2409889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Impact of ChatBot/FAQ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F5C5D40-DB8F-3BE0-E245-337C4AE8D469}"/>
              </a:ext>
            </a:extLst>
          </p:cNvPr>
          <p:cNvSpPr/>
          <p:nvPr/>
        </p:nvSpPr>
        <p:spPr>
          <a:xfrm>
            <a:off x="4969850" y="6278485"/>
            <a:ext cx="2565220" cy="365679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All costs are demonstrative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10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B7B8A54-CB3D-DD87-7EBE-C458E41E6143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D1458A3-28FD-1978-1E58-081E94904285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0D335-1B89-2C94-3A61-FA3B1BE42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09604-558C-8DA0-661D-837BED56B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6622" y="1693741"/>
            <a:ext cx="9870832" cy="1918800"/>
          </a:xfr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What is the company priority?: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Client satisfaction?       - (Ability to handle all calls within SLA)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Staff working conditions?  - (Ensuring agents are not overworked)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Cost reduction?                          - (Ensuring costs stay low)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5" name="Graphic 4" descr="Lightbulb and gear with solid fill">
            <a:extLst>
              <a:ext uri="{FF2B5EF4-FFF2-40B4-BE49-F238E27FC236}">
                <a16:creationId xmlns:a16="http://schemas.microsoft.com/office/drawing/2014/main" id="{606920EF-C5CD-FD5C-7D6A-9B655A96B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5266" y="366606"/>
            <a:ext cx="914400" cy="914400"/>
          </a:xfrm>
          <a:prstGeom prst="rect">
            <a:avLst/>
          </a:prstGeom>
        </p:spPr>
      </p:pic>
      <p:pic>
        <p:nvPicPr>
          <p:cNvPr id="8" name="Graphic 7" descr="Airplane with solid fill">
            <a:extLst>
              <a:ext uri="{FF2B5EF4-FFF2-40B4-BE49-F238E27FC236}">
                <a16:creationId xmlns:a16="http://schemas.microsoft.com/office/drawing/2014/main" id="{278915D3-4B9C-6DFE-7C51-F7250F01F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2930" y="4378570"/>
            <a:ext cx="1126880" cy="1148862"/>
          </a:xfrm>
          <a:prstGeom prst="rect">
            <a:avLst/>
          </a:prstGeom>
        </p:spPr>
      </p:pic>
      <p:pic>
        <p:nvPicPr>
          <p:cNvPr id="10" name="Graphic 9" descr="Arrow circle with solid fill">
            <a:extLst>
              <a:ext uri="{FF2B5EF4-FFF2-40B4-BE49-F238E27FC236}">
                <a16:creationId xmlns:a16="http://schemas.microsoft.com/office/drawing/2014/main" id="{FEAA7B9E-40C0-9DD5-77DE-813D252B94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39022" y="4448175"/>
            <a:ext cx="1471246" cy="1412631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70CEE07-F74F-D0B7-B2E9-B1C05FE0629F}"/>
              </a:ext>
            </a:extLst>
          </p:cNvPr>
          <p:cNvSpPr/>
          <p:nvPr/>
        </p:nvSpPr>
        <p:spPr>
          <a:xfrm>
            <a:off x="1115890" y="3743372"/>
            <a:ext cx="9210738" cy="2827525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rtl="0"/>
            <a:r>
              <a:rPr lang="en-US" sz="2800" baseline="0">
                <a:solidFill>
                  <a:schemeClr val="tx1"/>
                </a:solidFill>
                <a:latin typeface="Aptos"/>
                <a:ea typeface="Arial"/>
                <a:cs typeface="Arial"/>
              </a:rPr>
              <a:t>Actions</a:t>
            </a:r>
            <a:r>
              <a:rPr lang="en-US" sz="2800">
                <a:solidFill>
                  <a:schemeClr val="tx1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514350" indent="-514350">
              <a:buFont typeface=""/>
              <a:buAutoNum type="arabicPeriod"/>
            </a:pPr>
            <a:r>
              <a:rPr lang="en-US" sz="2800">
                <a:solidFill>
                  <a:schemeClr val="tx1"/>
                </a:solidFill>
                <a:latin typeface="Aptos"/>
                <a:ea typeface="Arial"/>
                <a:cs typeface="Arial"/>
              </a:rPr>
              <a:t>Increase</a:t>
            </a:r>
            <a:r>
              <a:rPr lang="en-US" sz="2800" baseline="0">
                <a:solidFill>
                  <a:schemeClr val="tx1"/>
                </a:solidFill>
                <a:latin typeface="Aptos"/>
                <a:ea typeface="Arial"/>
                <a:cs typeface="Arial"/>
              </a:rPr>
              <a:t> the number </a:t>
            </a:r>
            <a:r>
              <a:rPr lang="en-US" sz="2800">
                <a:solidFill>
                  <a:schemeClr val="tx1"/>
                </a:solidFill>
                <a:latin typeface="Aptos"/>
                <a:ea typeface="Arial"/>
                <a:cs typeface="Arial"/>
              </a:rPr>
              <a:t>of </a:t>
            </a:r>
            <a:r>
              <a:rPr lang="en-US" sz="2800" b="1">
                <a:solidFill>
                  <a:schemeClr val="tx1"/>
                </a:solidFill>
                <a:latin typeface="Aptos"/>
                <a:ea typeface="Arial"/>
                <a:cs typeface="Arial"/>
              </a:rPr>
              <a:t>agents</a:t>
            </a:r>
            <a:r>
              <a:rPr lang="en-US" sz="2800" b="1" baseline="0">
                <a:solidFill>
                  <a:schemeClr val="tx1"/>
                </a:solidFill>
                <a:latin typeface="Aptos"/>
                <a:ea typeface="Arial"/>
                <a:cs typeface="Arial"/>
              </a:rPr>
              <a:t> to 3</a:t>
            </a:r>
            <a:r>
              <a:rPr lang="en-US" sz="2800" baseline="0">
                <a:solidFill>
                  <a:schemeClr val="tx1"/>
                </a:solidFill>
                <a:latin typeface="Aptos"/>
                <a:ea typeface="Arial"/>
                <a:cs typeface="Arial"/>
              </a:rPr>
              <a:t> and put a </a:t>
            </a:r>
            <a:r>
              <a:rPr lang="en-US" sz="2800" b="1" baseline="0">
                <a:solidFill>
                  <a:schemeClr val="tx1"/>
                </a:solidFill>
                <a:latin typeface="Aptos"/>
                <a:ea typeface="Arial"/>
                <a:cs typeface="Arial"/>
              </a:rPr>
              <a:t>call center on retainer</a:t>
            </a:r>
            <a:r>
              <a:rPr lang="en-US" sz="2800" baseline="0">
                <a:solidFill>
                  <a:schemeClr val="tx1"/>
                </a:solidFill>
                <a:latin typeface="Aptos"/>
                <a:ea typeface="Arial"/>
                <a:cs typeface="Arial"/>
              </a:rPr>
              <a:t>.</a:t>
            </a:r>
            <a:r>
              <a:rPr lang="en-US" sz="2800">
                <a:solidFill>
                  <a:schemeClr val="tx1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marL="514350" indent="-514350">
              <a:buFont typeface=""/>
              <a:buAutoNum type="arabicPeriod"/>
            </a:pPr>
            <a:r>
              <a:rPr lang="en-US" sz="2800" baseline="0">
                <a:solidFill>
                  <a:schemeClr val="tx1"/>
                </a:solidFill>
                <a:latin typeface="Aptos"/>
                <a:ea typeface="Arial"/>
                <a:cs typeface="Arial"/>
              </a:rPr>
              <a:t>Implement a </a:t>
            </a:r>
            <a:r>
              <a:rPr lang="en-US" sz="2800" b="1" baseline="0">
                <a:solidFill>
                  <a:schemeClr val="tx1"/>
                </a:solidFill>
                <a:latin typeface="Aptos"/>
                <a:ea typeface="Arial"/>
                <a:cs typeface="Arial"/>
              </a:rPr>
              <a:t>quarterly strategic planning </a:t>
            </a:r>
            <a:r>
              <a:rPr lang="en-US" sz="2800" b="1">
                <a:solidFill>
                  <a:schemeClr val="tx1"/>
                </a:solidFill>
                <a:latin typeface="Aptos"/>
                <a:ea typeface="Arial"/>
                <a:cs typeface="Arial"/>
              </a:rPr>
              <a:t>review </a:t>
            </a:r>
            <a:r>
              <a:rPr lang="en-US" sz="2800">
                <a:solidFill>
                  <a:schemeClr val="tx1"/>
                </a:solidFill>
                <a:latin typeface="Aptos"/>
                <a:ea typeface="Arial"/>
                <a:cs typeface="Arial"/>
              </a:rPr>
              <a:t>which</a:t>
            </a:r>
            <a:r>
              <a:rPr lang="en-US" sz="2800" baseline="0">
                <a:solidFill>
                  <a:schemeClr val="tx1"/>
                </a:solidFill>
                <a:latin typeface="Aptos"/>
                <a:ea typeface="Arial"/>
                <a:cs typeface="Arial"/>
              </a:rPr>
              <a:t> revises the forecast and its requirement in thefuture. </a:t>
            </a:r>
            <a:r>
              <a:rPr lang="en-US" sz="2800">
                <a:solidFill>
                  <a:schemeClr val="tx1"/>
                </a:solidFill>
                <a:latin typeface="Aptos"/>
                <a:ea typeface="Arial"/>
                <a:cs typeface="Arial"/>
              </a:rPr>
              <a:t>​</a:t>
            </a:r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760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3653D-D091-0852-6D17-32D0667EA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FD6C306-0042-C120-CDD9-3B382F3E0423}"/>
              </a:ext>
            </a:extLst>
          </p:cNvPr>
          <p:cNvSpPr/>
          <p:nvPr/>
        </p:nvSpPr>
        <p:spPr>
          <a:xfrm rot="8100000">
            <a:off x="8077324" y="4260608"/>
            <a:ext cx="6109852" cy="3048000"/>
          </a:xfrm>
          <a:prstGeom prst="triangl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5B75BDE2-E332-585F-0635-72089D7B086F}"/>
              </a:ext>
            </a:extLst>
          </p:cNvPr>
          <p:cNvSpPr/>
          <p:nvPr/>
        </p:nvSpPr>
        <p:spPr>
          <a:xfrm rot="18900000">
            <a:off x="-631112" y="-168680"/>
            <a:ext cx="1932708" cy="997527"/>
          </a:xfrm>
          <a:prstGeom prst="triangl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7C9585-D68E-A0A0-EC82-9A722DD2D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430D-2C48-2EBB-98AF-92679C0EF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2" y="1513898"/>
            <a:ext cx="5257800" cy="435133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>
                <a:solidFill>
                  <a:schemeClr val="accent3"/>
                </a:solidFill>
              </a:rPr>
              <a:t>Understanding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Data Scrubbing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Data Description 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Summary of Insights</a:t>
            </a:r>
          </a:p>
          <a:p>
            <a:r>
              <a:rPr lang="en-US">
                <a:solidFill>
                  <a:schemeClr val="accent1"/>
                </a:solidFill>
              </a:rPr>
              <a:t>Modelling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Forecast Preparation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Time Series Decomposition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Time Series Forecast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Exploring the Impact on FTE</a:t>
            </a:r>
          </a:p>
          <a:p>
            <a:r>
              <a:rPr lang="en-US"/>
              <a:t>Solutions to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Options Available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Cost per Option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Recommendations</a:t>
            </a:r>
          </a:p>
          <a:p>
            <a:endParaRPr lang="en-US"/>
          </a:p>
        </p:txBody>
      </p:sp>
      <p:pic>
        <p:nvPicPr>
          <p:cNvPr id="4" name="Graphic 3" descr="Head with gears with solid fill">
            <a:extLst>
              <a:ext uri="{FF2B5EF4-FFF2-40B4-BE49-F238E27FC236}">
                <a16:creationId xmlns:a16="http://schemas.microsoft.com/office/drawing/2014/main" id="{21147A26-7E39-7475-04B3-EDD718F11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236" y="3114075"/>
            <a:ext cx="914400" cy="914400"/>
          </a:xfrm>
          <a:prstGeom prst="rect">
            <a:avLst/>
          </a:prstGeom>
        </p:spPr>
      </p:pic>
      <p:pic>
        <p:nvPicPr>
          <p:cNvPr id="5" name="Graphic 4" descr="Single gear with solid fill">
            <a:extLst>
              <a:ext uri="{FF2B5EF4-FFF2-40B4-BE49-F238E27FC236}">
                <a16:creationId xmlns:a16="http://schemas.microsoft.com/office/drawing/2014/main" id="{64AA3ED0-8D3F-6DC6-F98E-1F1CCED8B0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88639" y="1663677"/>
            <a:ext cx="914400" cy="914400"/>
          </a:xfrm>
          <a:prstGeom prst="rect">
            <a:avLst/>
          </a:prstGeom>
        </p:spPr>
      </p:pic>
      <p:pic>
        <p:nvPicPr>
          <p:cNvPr id="6" name="Graphic 5" descr="Lightbulb and gear with solid fill">
            <a:extLst>
              <a:ext uri="{FF2B5EF4-FFF2-40B4-BE49-F238E27FC236}">
                <a16:creationId xmlns:a16="http://schemas.microsoft.com/office/drawing/2014/main" id="{0008D041-28FE-4EA1-C311-29B8F44029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2968" y="4438916"/>
            <a:ext cx="914400" cy="9144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CDE1C2D-BBEE-88B8-7705-8E4C70174E06}"/>
              </a:ext>
            </a:extLst>
          </p:cNvPr>
          <p:cNvSpPr txBox="1">
            <a:spLocks/>
          </p:cNvSpPr>
          <p:nvPr/>
        </p:nvSpPr>
        <p:spPr>
          <a:xfrm>
            <a:off x="6690280" y="1510567"/>
            <a:ext cx="4371243" cy="433668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AutoNum type="arabicPeriod"/>
            </a:pPr>
            <a:r>
              <a:rPr lang="en-US">
                <a:solidFill>
                  <a:schemeClr val="accent3"/>
                </a:solidFill>
              </a:rPr>
              <a:t>Understood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Data Enriched</a:t>
            </a:r>
            <a:endParaRPr lang="en-US" dirty="0">
              <a:solidFill>
                <a:schemeClr val="accent3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Data Analysed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3"/>
                </a:solidFill>
              </a:rPr>
              <a:t>Problem Descsribed</a:t>
            </a:r>
            <a:endParaRPr lang="en-US" dirty="0">
              <a:solidFill>
                <a:schemeClr val="accent3"/>
              </a:solidFill>
            </a:endParaRPr>
          </a:p>
          <a:p>
            <a:pPr>
              <a:buAutoNum type="arabicPeriod"/>
            </a:pPr>
            <a:r>
              <a:rPr lang="en-US">
                <a:solidFill>
                  <a:schemeClr val="accent1"/>
                </a:solidFill>
              </a:rPr>
              <a:t>Modelled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Outliers Removed</a:t>
            </a:r>
            <a:endParaRPr lang="en-US" dirty="0">
              <a:solidFill>
                <a:schemeClr val="accent1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Time Series Decomposed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Time Series Forecasted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accent1"/>
                </a:solidFill>
              </a:rPr>
              <a:t>Head Count Evaluated</a:t>
            </a:r>
            <a:endParaRPr lang="en-US" dirty="0">
              <a:solidFill>
                <a:schemeClr val="accent1"/>
              </a:solidFill>
            </a:endParaRPr>
          </a:p>
          <a:p>
            <a:pPr marL="514350" indent="-514350">
              <a:buAutoNum type="arabicPeriod"/>
            </a:pPr>
            <a:r>
              <a:rPr lang="en-US"/>
              <a:t>Solved to the Problem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Solutions Proposed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Costs Analysed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Recommendation Given</a:t>
            </a:r>
            <a:endParaRPr lang="en-US" dirty="0"/>
          </a:p>
          <a:p>
            <a:pPr>
              <a:buAutoNum type="arabicPeriod"/>
            </a:pPr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4312E3-AF2E-ED46-F4FD-CABA4BA8DDB4}"/>
              </a:ext>
            </a:extLst>
          </p:cNvPr>
          <p:cNvSpPr/>
          <p:nvPr/>
        </p:nvSpPr>
        <p:spPr>
          <a:xfrm>
            <a:off x="1218467" y="5787582"/>
            <a:ext cx="8749142" cy="995794"/>
          </a:xfrm>
          <a:prstGeom prst="round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2800">
                <a:solidFill>
                  <a:schemeClr val="tx1"/>
                </a:solidFill>
              </a:rPr>
              <a:t>If I were the COO, I would increase the number of agents to 3 and put a call center on retainer.</a:t>
            </a:r>
          </a:p>
          <a:p>
            <a:pPr algn="ctr"/>
            <a:endParaRPr 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564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BB359C-7379-CDD3-25ED-E548DD3F9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7263489-FF52-102C-C3E4-59989EA7E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281B02-FEB3-3EA3-88A3-C696E4322C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30353-A70A-9EA7-91A1-AE816F7EB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Questions?</a:t>
            </a:r>
          </a:p>
        </p:txBody>
      </p:sp>
      <p:pic>
        <p:nvPicPr>
          <p:cNvPr id="6" name="Graphic 5" descr="Telemarketer">
            <a:extLst>
              <a:ext uri="{FF2B5EF4-FFF2-40B4-BE49-F238E27FC236}">
                <a16:creationId xmlns:a16="http://schemas.microsoft.com/office/drawing/2014/main" id="{69A41B2C-96EC-E094-EC93-6F9EC0D017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4292CCA-67C6-8BC7-0B35-3D8F47F39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F64DCB5-2165-AC12-2595-71D5965E9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AA63A6E-DDAC-7364-2F00-A5B3455413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3DF90CC-C69C-3DD4-BABD-45600EF71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42004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Call Center Investigation</vt:lpstr>
      <vt:lpstr>Agenda:</vt:lpstr>
      <vt:lpstr>Data Description – Raw Data</vt:lpstr>
      <vt:lpstr>Data Description – Enriched Data</vt:lpstr>
      <vt:lpstr>Seasonal Patterns</vt:lpstr>
      <vt:lpstr>April Demand</vt:lpstr>
      <vt:lpstr>FTE Considerations</vt:lpstr>
      <vt:lpstr>Data Description Insights</vt:lpstr>
      <vt:lpstr>Agenda:</vt:lpstr>
      <vt:lpstr>Forecasting Preparation</vt:lpstr>
      <vt:lpstr>Time Series Decomposition</vt:lpstr>
      <vt:lpstr>Time Series Forecast</vt:lpstr>
      <vt:lpstr>Exploring the Impact on Headcount (FTE) </vt:lpstr>
      <vt:lpstr>Data Forecast Insights</vt:lpstr>
      <vt:lpstr>Agenda:</vt:lpstr>
      <vt:lpstr>Options Available</vt:lpstr>
      <vt:lpstr>Cost per Option</vt:lpstr>
      <vt:lpstr>Recommendations</vt:lpstr>
      <vt:lpstr>Conclusion: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433</cp:revision>
  <dcterms:created xsi:type="dcterms:W3CDTF">2026-01-17T14:09:32Z</dcterms:created>
  <dcterms:modified xsi:type="dcterms:W3CDTF">2026-01-20T20:08:38Z</dcterms:modified>
</cp:coreProperties>
</file>